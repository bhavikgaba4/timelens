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0c681cef2c43d6" /><Relationship Type="http://schemas.openxmlformats.org/officeDocument/2006/relationships/extended-properties" Target="/docProps/app.xml" Id="Rf5d86af832414f76" /><Relationship Type="http://schemas.openxmlformats.org/officeDocument/2006/relationships/officeDocument" Target="/ppt/presentation.xml" Id="Rde6d0daa6ec84601" /></Relationships>
</file>

<file path=ppt/presentation.xml><?xml version="1.0" encoding="utf-8"?>
<p:presentation xmlns:p="http://schemas.openxmlformats.org/presentationml/2006/main">
  <p:sldMasterIdLst>
    <p:sldMasterId xmlns:r="http://schemas.openxmlformats.org/officeDocument/2006/relationships" id="2147483648" r:id="R424c1cd4eb8f491c"/>
  </p:sldMasterIdLst>
  <p:notesMasterIdLst>
    <p:notesMasterId xmlns:r="http://schemas.openxmlformats.org/officeDocument/2006/relationships" r:id="R06e45eac42c94fed"/>
  </p:notesMasterIdLst>
  <p:sldIdLst>
    <p:sldId xmlns:r="http://schemas.openxmlformats.org/officeDocument/2006/relationships" id="256" r:id="R7bac27a92b0a4b04"/>
    <p:sldId xmlns:r="http://schemas.openxmlformats.org/officeDocument/2006/relationships" id="257" r:id="Red6aa4f48ed74ab0"/>
    <p:sldId xmlns:r="http://schemas.openxmlformats.org/officeDocument/2006/relationships" id="258" r:id="Rf00c5c8412f940b3"/>
    <p:sldId xmlns:r="http://schemas.openxmlformats.org/officeDocument/2006/relationships" id="259" r:id="Rb6d644f5c0d1458f"/>
    <p:sldId xmlns:r="http://schemas.openxmlformats.org/officeDocument/2006/relationships" id="260" r:id="R299fe6d560a64a75"/>
    <p:sldId xmlns:r="http://schemas.openxmlformats.org/officeDocument/2006/relationships" id="261" r:id="R8ff15b7dffe54b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594aac283344c9" /><Relationship Type="http://schemas.openxmlformats.org/officeDocument/2006/relationships/slideMaster" Target="/ppt/slideMasters/slideMaster1.xml" Id="R424c1cd4eb8f491c" /><Relationship Type="http://schemas.openxmlformats.org/officeDocument/2006/relationships/notesMaster" Target="/ppt/notesMasters/notesMaster1.xml" Id="R06e45eac42c94fed" /><Relationship Type="http://schemas.openxmlformats.org/officeDocument/2006/relationships/presProps" Target="/ppt/presProps.xml" Id="R84efecf3ede64497" /><Relationship Type="http://schemas.openxmlformats.org/officeDocument/2006/relationships/tableStyles" Target="/ppt/tableStyles.xml" Id="R62a7db8b583545bc" /><Relationship Type="http://schemas.openxmlformats.org/officeDocument/2006/relationships/slide" Target="/ppt/slides/slide1.xml" Id="R7bac27a92b0a4b04" /><Relationship Type="http://schemas.openxmlformats.org/officeDocument/2006/relationships/slide" Target="/ppt/slides/slide2.xml" Id="Red6aa4f48ed74ab0" /><Relationship Type="http://schemas.openxmlformats.org/officeDocument/2006/relationships/slide" Target="/ppt/slides/slide3.xml" Id="Rf00c5c8412f940b3" /><Relationship Type="http://schemas.openxmlformats.org/officeDocument/2006/relationships/slide" Target="/ppt/slides/slide4.xml" Id="Rb6d644f5c0d1458f" /><Relationship Type="http://schemas.openxmlformats.org/officeDocument/2006/relationships/slide" Target="/ppt/slides/slide5.xml" Id="R299fe6d560a64a75" /><Relationship Type="http://schemas.openxmlformats.org/officeDocument/2006/relationships/slide" Target="/ppt/slides/slide6.xml" Id="R8ff15b7dffe54b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918c48c83046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52100b645043a0" /><Relationship Type="http://schemas.openxmlformats.org/officeDocument/2006/relationships/notesMaster" Target="/ppt/notesMasters/notesMaster1.xml" Id="R7ea7450401354d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5c8396fdf2495c" /><Relationship Type="http://schemas.openxmlformats.org/officeDocument/2006/relationships/notesMaster" Target="/ppt/notesMasters/notesMaster1.xml" Id="R3e664a17b4ce42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8065982ffc4794" /><Relationship Type="http://schemas.openxmlformats.org/officeDocument/2006/relationships/notesMaster" Target="/ppt/notesMasters/notesMaster1.xml" Id="R2b073502f84243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df7fbbe5f742ff" /><Relationship Type="http://schemas.openxmlformats.org/officeDocument/2006/relationships/notesMaster" Target="/ppt/notesMasters/notesMaster1.xml" Id="Re4e455e228b747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6a4c5f8061454f" /><Relationship Type="http://schemas.openxmlformats.org/officeDocument/2006/relationships/notesMaster" Target="/ppt/notesMasters/notesMaster1.xml" Id="R4b4329e670af41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07c09835ad4d0f" /><Relationship Type="http://schemas.openxmlformats.org/officeDocument/2006/relationships/notesMaster" Target="/ppt/notesMasters/notesMaster1.xml" Id="R5aabd8cab0d547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TimeLens AI addresses a simple problem: plans fail because the first duration estimate is usually wrong. This proof of concept shows a schedule that corrects estimates using task context and past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task planners accept a duration exactly as the user enters it. TimeLens focuses on the gap between a guessed duration and the time the work actually needs.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enters familiar task details. TimeLens applies a simple correction based on stored history and context. The scheduler uses the corrected duration, then records the real result for the next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live demo from left to right. Create a task, show the corrected duration, generate the schedule, log the delay, then show the updated remaining timeline. A screen recording can replace or sit over the navy panel.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MVP uses one Next.js repository. Server actions or route handlers call plain TypeScript prediction and scheduling modules. Prisma stores tasks and outcomes in SQLite, so the demo works without accounts or cloud infrastructure.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hackathon build proves the feedback loop. The production system adds identity, synchronization, a trained model, integrations, notifications and operational controls without changing the core product idea.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7df518a89e48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f59c565e3b4623" /><Relationship Type="http://schemas.openxmlformats.org/officeDocument/2006/relationships/slideLayout" Target="/ppt/slideLayouts/slideLayout1.xml" Id="R774ff589033d4e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4ff589033d4e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68357e41ac4265" /><Relationship Type="http://schemas.openxmlformats.org/officeDocument/2006/relationships/notesSlide" Target="/ppt/notesSlides/notesSlide1.xml" Id="R77d43d282bdb4e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c51540057e4acf" /><Relationship Type="http://schemas.openxmlformats.org/officeDocument/2006/relationships/notesSlide" Target="/ppt/notesSlides/notesSlide2.xml" Id="R5e4e5fac392b42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e3a2be403d4035" /><Relationship Type="http://schemas.openxmlformats.org/officeDocument/2006/relationships/notesSlide" Target="/ppt/notesSlides/notesSlide3.xml" Id="R74ed589cfcc249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570da6f5ad468d" /><Relationship Type="http://schemas.openxmlformats.org/officeDocument/2006/relationships/notesSlide" Target="/ppt/notesSlides/notesSlide4.xml" Id="R34e737fb54d549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0f3e1667a324f01" /><Relationship Type="http://schemas.openxmlformats.org/officeDocument/2006/relationships/notesSlide" Target="/ppt/notesSlides/notesSlide5.xml" Id="R4e60e00598d341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917c563986419b" /><Relationship Type="http://schemas.openxmlformats.org/officeDocument/2006/relationships/notesSlide" Target="/ppt/notesSlides/notesSlide6.xml" Id="R20b4f8b384264dc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91933EF-D7D4-4AF3-BED3-595095CD9E2B}"/>
              </a:ext>
            </a:extLst>
          </p:cNvPr>
          <p:cNvSpPr>
            <a:spLocks xmlns:a="http://schemas.openxmlformats.org/drawingml/2006/main" noGrp="1"/>
          </p:cNvSpPr>
          <p:nvPr/>
        </p:nvSpPr>
        <p:spPr>
          <a:xfrm xmlns:a="http://schemas.openxmlformats.org/drawingml/2006/main">
            <a:off x="8763000" y="0"/>
            <a:ext cx="3429000" cy="6858000"/>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E1DBE6A-C8F4-48A4-B09C-18BA5E86DB6B}"/>
              </a:ext>
            </a:extLst>
          </p:cNvPr>
          <p:cNvSpPr>
            <a:spLocks xmlns:a="http://schemas.openxmlformats.org/drawingml/2006/main" noGrp="1"/>
          </p:cNvSpPr>
          <p:nvPr/>
        </p:nvSpPr>
        <p:spPr>
          <a:xfrm xmlns:a="http://schemas.openxmlformats.org/drawingml/2006/main">
            <a:off x="685800" y="5715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53653"/>
                </a:solidFill>
                <a:latin typeface="Inter"/>
                <a:ea typeface="Inter"/>
                <a:cs typeface="Inter"/>
              </a:defRPr>
            </a:pPr>
            <a:r>
              <a:rPr sz="1350" b="1">
                <a:solidFill>
                  <a:srgbClr val="253653"/>
                </a:solidFill>
                <a:latin typeface="Inter"/>
                <a:ea typeface="Inter"/>
                <a:cs typeface="Inter"/>
              </a:rPr>
              <a:t>TIMELENS AI</a:t>
            </a:r>
          </a:p>
        </p:txBody>
      </p:sp>
      <p:sp>
        <p:nvSpPr>
          <p:cNvPr id="3" name="">
            <a:extLst xmlns:a="http://schemas.openxmlformats.org/drawingml/2006/main">
              <a:ext uri="{FF2B5EF4-FFF2-40B4-BE49-F238E27FC236}">
                <a16:creationId xmlns:a16="http://schemas.microsoft.com/office/drawing/2014/main" id="{BF3BC739-F993-4ED6-A914-64FF3008F82E}"/>
              </a:ext>
            </a:extLst>
          </p:cNvPr>
          <p:cNvSpPr>
            <a:spLocks xmlns:a="http://schemas.openxmlformats.org/drawingml/2006/main" noGrp="1"/>
          </p:cNvSpPr>
          <p:nvPr/>
        </p:nvSpPr>
        <p:spPr>
          <a:xfrm xmlns:a="http://schemas.openxmlformats.org/drawingml/2006/main">
            <a:off x="685800" y="1381125"/>
            <a:ext cx="7334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5100" b="1">
                <a:solidFill>
                  <a:srgbClr val="111111"/>
                </a:solidFill>
                <a:latin typeface="Inter"/>
                <a:ea typeface="Inter"/>
                <a:cs typeface="Inter"/>
              </a:defRPr>
            </a:pPr>
            <a:r>
              <a:rPr sz="5100" b="1">
                <a:solidFill>
                  <a:srgbClr val="111111"/>
                </a:solidFill>
                <a:latin typeface="Inter"/>
                <a:ea typeface="Inter"/>
                <a:cs typeface="Inter"/>
              </a:rPr>
              <a:t>A schedule that learns</a:t>
            </a:r>
          </a:p>
          <a:p xmlns:a="http://schemas.openxmlformats.org/drawingml/2006/main">
            <a:pPr algn="l">
              <a:lnSpc>
                <a:spcPct val="90000"/>
              </a:lnSpc>
              <a:buNone/>
              <a:defRPr sz="5100" b="1">
                <a:solidFill>
                  <a:srgbClr val="111111"/>
                </a:solidFill>
                <a:latin typeface="Inter"/>
                <a:ea typeface="Inter"/>
                <a:cs typeface="Inter"/>
              </a:defRPr>
            </a:pPr>
            <a:r>
              <a:rPr sz="5100" b="1">
                <a:solidFill>
                  <a:srgbClr val="111111"/>
                </a:solidFill>
                <a:latin typeface="Inter"/>
                <a:ea typeface="Inter"/>
                <a:cs typeface="Inter"/>
              </a:rPr>
              <a:t>from actual work</a:t>
            </a:r>
          </a:p>
        </p:txBody>
      </p:sp>
      <p:sp>
        <p:nvSpPr>
          <p:cNvPr id="4" name="">
            <a:extLst xmlns:a="http://schemas.openxmlformats.org/drawingml/2006/main">
              <a:ext uri="{FF2B5EF4-FFF2-40B4-BE49-F238E27FC236}">
                <a16:creationId xmlns:a16="http://schemas.microsoft.com/office/drawing/2014/main" id="{B53AACFD-01EA-40FC-819D-A1BA3F81CE46}"/>
              </a:ext>
            </a:extLst>
          </p:cNvPr>
          <p:cNvSpPr>
            <a:spLocks xmlns:a="http://schemas.openxmlformats.org/drawingml/2006/main" noGrp="1"/>
          </p:cNvSpPr>
          <p:nvPr/>
        </p:nvSpPr>
        <p:spPr>
          <a:xfrm xmlns:a="http://schemas.openxmlformats.org/drawingml/2006/main">
            <a:off x="685800" y="3752850"/>
            <a:ext cx="1143000" cy="47625"/>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FEB1F0C-6B18-454E-AE56-D3C62310B9F1}"/>
              </a:ext>
            </a:extLst>
          </p:cNvPr>
          <p:cNvSpPr>
            <a:spLocks xmlns:a="http://schemas.openxmlformats.org/drawingml/2006/main" noGrp="1"/>
          </p:cNvSpPr>
          <p:nvPr/>
        </p:nvSpPr>
        <p:spPr>
          <a:xfrm xmlns:a="http://schemas.openxmlformats.org/drawingml/2006/main">
            <a:off x="685800" y="4095750"/>
            <a:ext cx="657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0">
                <a:solidFill>
                  <a:srgbClr val="111111"/>
                </a:solidFill>
                <a:latin typeface="Inter"/>
                <a:ea typeface="Inter"/>
                <a:cs typeface="Inter"/>
              </a:defRPr>
            </a:pPr>
            <a:r>
              <a:rPr sz="2025" b="0">
                <a:solidFill>
                  <a:srgbClr val="111111"/>
                </a:solidFill>
                <a:latin typeface="Inter"/>
                <a:ea typeface="Inter"/>
                <a:cs typeface="Inter"/>
              </a:rPr>
              <a:t>Personalized time prediction and automatic rescheduling in one local web app.</a:t>
            </a:r>
          </a:p>
        </p:txBody>
      </p:sp>
      <p:sp>
        <p:nvSpPr>
          <p:cNvPr id="6" name="">
            <a:extLst xmlns:a="http://schemas.openxmlformats.org/drawingml/2006/main">
              <a:ext uri="{FF2B5EF4-FFF2-40B4-BE49-F238E27FC236}">
                <a16:creationId xmlns:a16="http://schemas.microsoft.com/office/drawing/2014/main" id="{55057682-9AB1-4353-A359-4F65635361F9}"/>
              </a:ext>
            </a:extLst>
          </p:cNvPr>
          <p:cNvSpPr>
            <a:spLocks xmlns:a="http://schemas.openxmlformats.org/drawingml/2006/main" noGrp="1"/>
          </p:cNvSpPr>
          <p:nvPr/>
        </p:nvSpPr>
        <p:spPr>
          <a:xfrm xmlns:a="http://schemas.openxmlformats.org/drawingml/2006/main">
            <a:off x="685800" y="6115050"/>
            <a:ext cx="495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253653"/>
                </a:solidFill>
                <a:latin typeface="Inter"/>
                <a:ea typeface="Inter"/>
                <a:cs typeface="Inter"/>
              </a:defRPr>
            </a:pPr>
            <a:r>
              <a:rPr sz="1200" b="0">
                <a:solidFill>
                  <a:srgbClr val="253653"/>
                </a:solidFill>
                <a:latin typeface="Inter"/>
                <a:ea typeface="Inter"/>
                <a:cs typeface="Inter"/>
              </a:rPr>
              <a:t>github.com/devyangggg/timelens</a:t>
            </a:r>
          </a:p>
        </p:txBody>
      </p:sp>
      <p:sp>
        <p:nvSpPr>
          <p:cNvPr id="7" name="">
            <a:extLst xmlns:a="http://schemas.openxmlformats.org/drawingml/2006/main">
              <a:ext uri="{FF2B5EF4-FFF2-40B4-BE49-F238E27FC236}">
                <a16:creationId xmlns:a16="http://schemas.microsoft.com/office/drawing/2014/main" id="{36FE9F27-E3BF-4C34-BF7D-BCD9BAA344C3}"/>
              </a:ext>
            </a:extLst>
          </p:cNvPr>
          <p:cNvSpPr>
            <a:spLocks xmlns:a="http://schemas.openxmlformats.org/drawingml/2006/main" noGrp="1"/>
          </p:cNvSpPr>
          <p:nvPr/>
        </p:nvSpPr>
        <p:spPr>
          <a:xfrm xmlns:a="http://schemas.openxmlformats.org/drawingml/2006/main">
            <a:off x="9144000" y="95250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38"/>
          </a:bodyPr>
          <a:lstStyle xmlns:a="http://schemas.openxmlformats.org/drawingml/2006/main"/>
          <a:p xmlns:a="http://schemas.openxmlformats.org/drawingml/2006/main">
            <a:pPr algn="l">
              <a:lnSpc>
                <a:spcPct val="100000"/>
              </a:lnSpc>
              <a:buNone/>
              <a:defRPr sz="6900" b="1">
                <a:solidFill>
                  <a:srgbClr val="FFFFFF"/>
                </a:solidFill>
                <a:latin typeface="Inter"/>
                <a:ea typeface="Inter"/>
                <a:cs typeface="Inter"/>
              </a:defRPr>
            </a:pPr>
            <a:r>
              <a:rPr sz="6900" b="1">
                <a:solidFill>
                  <a:srgbClr val="FFFFFF"/>
                </a:solidFill>
                <a:latin typeface="Inter"/>
                <a:ea typeface="Inter"/>
                <a:cs typeface="Inter"/>
              </a:rPr>
              <a:t>MVP</a:t>
            </a:r>
          </a:p>
        </p:txBody>
      </p:sp>
      <p:sp>
        <p:nvSpPr>
          <p:cNvPr id="8" name="">
            <a:extLst xmlns:a="http://schemas.openxmlformats.org/drawingml/2006/main">
              <a:ext uri="{FF2B5EF4-FFF2-40B4-BE49-F238E27FC236}">
                <a16:creationId xmlns:a16="http://schemas.microsoft.com/office/drawing/2014/main" id="{7EDAC516-4F8A-4AA3-B2A8-4395B724B88F}"/>
              </a:ext>
            </a:extLst>
          </p:cNvPr>
          <p:cNvSpPr>
            <a:spLocks xmlns:a="http://schemas.openxmlformats.org/drawingml/2006/main" noGrp="1"/>
          </p:cNvSpPr>
          <p:nvPr/>
        </p:nvSpPr>
        <p:spPr>
          <a:xfrm xmlns:a="http://schemas.openxmlformats.org/drawingml/2006/main">
            <a:off x="9172575" y="2266950"/>
            <a:ext cx="2238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350" b="1">
                <a:solidFill>
                  <a:srgbClr val="FFFFFF"/>
                </a:solidFill>
                <a:latin typeface="Inter"/>
                <a:ea typeface="Inter"/>
                <a:cs typeface="Inter"/>
              </a:defRPr>
            </a:pPr>
            <a:r>
              <a:rPr sz="1350" b="1">
                <a:solidFill>
                  <a:srgbClr val="FFFFFF"/>
                </a:solidFill>
                <a:latin typeface="Inter"/>
                <a:ea typeface="Inter"/>
                <a:cs typeface="Inter"/>
              </a:rPr>
              <a:t>HACKATHON</a:t>
            </a:r>
          </a:p>
          <a:p xmlns:a="http://schemas.openxmlformats.org/drawingml/2006/main">
            <a:pPr algn="l">
              <a:lnSpc>
                <a:spcPct val="120000"/>
              </a:lnSpc>
              <a:buNone/>
              <a:defRPr sz="1350" b="1">
                <a:solidFill>
                  <a:srgbClr val="FFFFFF"/>
                </a:solidFill>
                <a:latin typeface="Inter"/>
                <a:ea typeface="Inter"/>
                <a:cs typeface="Inter"/>
              </a:defRPr>
            </a:pPr>
            <a:r>
              <a:rPr sz="1350" b="1">
                <a:solidFill>
                  <a:srgbClr val="FFFFFF"/>
                </a:solidFill>
                <a:latin typeface="Inter"/>
                <a:ea typeface="Inter"/>
                <a:cs typeface="Inter"/>
              </a:rPr>
              <a:t>PROOF OF CONCEPT</a:t>
            </a:r>
          </a:p>
        </p:txBody>
      </p:sp>
      <p:sp>
        <p:nvSpPr>
          <p:cNvPr id="9" name="">
            <a:extLst xmlns:a="http://schemas.openxmlformats.org/drawingml/2006/main">
              <a:ext uri="{FF2B5EF4-FFF2-40B4-BE49-F238E27FC236}">
                <a16:creationId xmlns:a16="http://schemas.microsoft.com/office/drawing/2014/main" id="{F999728D-997E-4536-B1E6-F048F4886FA5}"/>
              </a:ext>
            </a:extLst>
          </p:cNvPr>
          <p:cNvSpPr>
            <a:spLocks xmlns:a="http://schemas.openxmlformats.org/drawingml/2006/main" noGrp="1"/>
          </p:cNvSpPr>
          <p:nvPr/>
        </p:nvSpPr>
        <p:spPr>
          <a:xfrm xmlns:a="http://schemas.openxmlformats.org/drawingml/2006/main">
            <a:off x="9172575" y="4905375"/>
            <a:ext cx="2000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a:solidFill>
                  <a:srgbClr val="FFFFFF"/>
                </a:solidFill>
                <a:latin typeface="Inter"/>
                <a:ea typeface="Inter"/>
                <a:cs typeface="Inter"/>
              </a:defRPr>
            </a:pPr>
            <a:r>
              <a:rPr sz="1800" b="1">
                <a:solidFill>
                  <a:srgbClr val="FFFFFF"/>
                </a:solidFill>
                <a:latin typeface="Inter"/>
                <a:ea typeface="Inter"/>
                <a:cs typeface="Inter"/>
              </a:rPr>
              <a:t>NEXT.JS</a:t>
            </a:r>
          </a:p>
          <a:p xmlns:a="http://schemas.openxmlformats.org/drawingml/2006/main">
            <a:pPr algn="l">
              <a:lnSpc>
                <a:spcPct val="105000"/>
              </a:lnSpc>
              <a:buNone/>
              <a:defRPr sz="1800" b="1">
                <a:solidFill>
                  <a:srgbClr val="FFFFFF"/>
                </a:solidFill>
                <a:latin typeface="Inter"/>
                <a:ea typeface="Inter"/>
                <a:cs typeface="Inter"/>
              </a:defRPr>
            </a:pPr>
            <a:r>
              <a:rPr sz="1800" b="1">
                <a:solidFill>
                  <a:srgbClr val="FFFFFF"/>
                </a:solidFill>
                <a:latin typeface="Inter"/>
                <a:ea typeface="Inter"/>
                <a:cs typeface="Inter"/>
              </a:rPr>
              <a:t>TYPESCRIPT</a:t>
            </a:r>
          </a:p>
          <a:p xmlns:a="http://schemas.openxmlformats.org/drawingml/2006/main">
            <a:pPr algn="l">
              <a:lnSpc>
                <a:spcPct val="105000"/>
              </a:lnSpc>
              <a:buNone/>
              <a:defRPr sz="1800" b="1">
                <a:solidFill>
                  <a:srgbClr val="FFFFFF"/>
                </a:solidFill>
                <a:latin typeface="Inter"/>
                <a:ea typeface="Inter"/>
                <a:cs typeface="Inter"/>
              </a:defRPr>
            </a:pPr>
            <a:r>
              <a:rPr sz="1800" b="1">
                <a:solidFill>
                  <a:srgbClr val="FFFFFF"/>
                </a:solidFill>
                <a:latin typeface="Inter"/>
                <a:ea typeface="Inter"/>
                <a:cs typeface="Inter"/>
              </a:rPr>
              <a:t>SQLITE</a:t>
            </a:r>
          </a:p>
        </p:txBody>
      </p:sp>
    </p:spTree>
    <p:extLst>
      <p:ext uri="{BB962C8B-B14F-4D97-AF65-F5344CB8AC3E}">
        <p14:creationId xmlns:p14="http://schemas.microsoft.com/office/powerpoint/2010/main" val="590939514"/>
      </p:ext>
    </p:extLst>
  </p:cSld>
</p:sld>
</file>

<file path=ppt/slides/slide2.xml><?xml version="1.0" encoding="utf-8"?>
<p:sld xmlns:p="http://schemas.openxmlformats.org/presentationml/2006/main">
  <p:cSld>
    <p:bg>
      <p:bgPr>
        <a:solidFill xmlns:a="http://schemas.openxmlformats.org/drawingml/2006/main">
          <a:srgbClr val="25365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82036B0-36A7-46D5-BD1E-54F1CCEDCAFA}"/>
              </a:ext>
            </a:extLst>
          </p:cNvPr>
          <p:cNvSpPr>
            <a:spLocks xmlns:a="http://schemas.openxmlformats.org/drawingml/2006/main" noGrp="1"/>
          </p:cNvSpPr>
          <p:nvPr/>
        </p:nvSpPr>
        <p:spPr>
          <a:xfrm xmlns:a="http://schemas.openxmlformats.org/drawingml/2006/main">
            <a:off x="685800" y="514350"/>
            <a:ext cx="828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88"/>
          </a:bodyPr>
          <a:lstStyle xmlns:a="http://schemas.openxmlformats.org/drawingml/2006/main"/>
          <a:p xmlns:a="http://schemas.openxmlformats.org/drawingml/2006/main">
            <a:pPr algn="l">
              <a:lnSpc>
                <a:spcPct val="100000"/>
              </a:lnSpc>
              <a:buNone/>
              <a:defRPr sz="3450" b="1">
                <a:solidFill>
                  <a:srgbClr val="FFFFFF"/>
                </a:solidFill>
                <a:latin typeface="Inter"/>
                <a:ea typeface="Inter"/>
                <a:cs typeface="Inter"/>
              </a:defRPr>
            </a:pPr>
            <a:r>
              <a:rPr sz="3450" b="1">
                <a:solidFill>
                  <a:srgbClr val="FFFFFF"/>
                </a:solidFill>
                <a:latin typeface="Inter"/>
                <a:ea typeface="Inter"/>
                <a:cs typeface="Inter"/>
              </a:rPr>
              <a:t>Static estimates make dynamic days fail</a:t>
            </a:r>
          </a:p>
        </p:txBody>
      </p:sp>
      <p:sp>
        <p:nvSpPr>
          <p:cNvPr id="2" name="">
            <a:extLst xmlns:a="http://schemas.openxmlformats.org/drawingml/2006/main">
              <a:ext uri="{FF2B5EF4-FFF2-40B4-BE49-F238E27FC236}">
                <a16:creationId xmlns:a16="http://schemas.microsoft.com/office/drawing/2014/main" id="{7CEDD30F-5EA0-46EB-877C-9CC22E92E830}"/>
              </a:ext>
            </a:extLst>
          </p:cNvPr>
          <p:cNvSpPr>
            <a:spLocks xmlns:a="http://schemas.openxmlformats.org/drawingml/2006/main" noGrp="1"/>
          </p:cNvSpPr>
          <p:nvPr/>
        </p:nvSpPr>
        <p:spPr>
          <a:xfrm xmlns:a="http://schemas.openxmlformats.org/drawingml/2006/main">
            <a:off x="685800" y="1409700"/>
            <a:ext cx="10820400" cy="95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5D2D0C0-8E78-43FD-917C-A4BB2459DEAF}"/>
              </a:ext>
            </a:extLst>
          </p:cNvPr>
          <p:cNvSpPr>
            <a:spLocks xmlns:a="http://schemas.openxmlformats.org/drawingml/2006/main" noGrp="1"/>
          </p:cNvSpPr>
          <p:nvPr/>
        </p:nvSpPr>
        <p:spPr>
          <a:xfrm xmlns:a="http://schemas.openxmlformats.org/drawingml/2006/main">
            <a:off x="685800" y="173355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FFFFF"/>
                </a:solidFill>
                <a:latin typeface="Inter"/>
                <a:ea typeface="Inter"/>
                <a:cs typeface="Inter"/>
              </a:defRPr>
            </a:pPr>
            <a:r>
              <a:rPr sz="1350" b="1">
                <a:solidFill>
                  <a:srgbClr val="FFFFFF"/>
                </a:solidFill>
                <a:latin typeface="Inter"/>
                <a:ea typeface="Inter"/>
                <a:cs typeface="Inter"/>
              </a:rPr>
              <a:t>01</a:t>
            </a:r>
          </a:p>
        </p:txBody>
      </p:sp>
      <p:sp>
        <p:nvSpPr>
          <p:cNvPr id="4" name="">
            <a:extLst xmlns:a="http://schemas.openxmlformats.org/drawingml/2006/main">
              <a:ext uri="{FF2B5EF4-FFF2-40B4-BE49-F238E27FC236}">
                <a16:creationId xmlns:a16="http://schemas.microsoft.com/office/drawing/2014/main" id="{E5E44B17-85D9-4040-86B7-79D0AF61FD9D}"/>
              </a:ext>
            </a:extLst>
          </p:cNvPr>
          <p:cNvSpPr>
            <a:spLocks xmlns:a="http://schemas.openxmlformats.org/drawingml/2006/main" noGrp="1"/>
          </p:cNvSpPr>
          <p:nvPr/>
        </p:nvSpPr>
        <p:spPr>
          <a:xfrm xmlns:a="http://schemas.openxmlformats.org/drawingml/2006/main">
            <a:off x="1466850" y="1714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FFFFF"/>
                </a:solidFill>
                <a:latin typeface="Inter"/>
                <a:ea typeface="Inter"/>
                <a:cs typeface="Inter"/>
              </a:defRPr>
            </a:pPr>
            <a:r>
              <a:rPr sz="1800" b="1">
                <a:solidFill>
                  <a:srgbClr val="FFFFFF"/>
                </a:solidFill>
                <a:latin typeface="Inter"/>
                <a:ea typeface="Inter"/>
                <a:cs typeface="Inter"/>
              </a:rPr>
              <a:t>Personal bias</a:t>
            </a:r>
          </a:p>
        </p:txBody>
      </p:sp>
      <p:sp>
        <p:nvSpPr>
          <p:cNvPr id="5" name="">
            <a:extLst xmlns:a="http://schemas.openxmlformats.org/drawingml/2006/main">
              <a:ext uri="{FF2B5EF4-FFF2-40B4-BE49-F238E27FC236}">
                <a16:creationId xmlns:a16="http://schemas.microsoft.com/office/drawing/2014/main" id="{38E6A3C0-210F-4E7A-8B00-DADDD62694B6}"/>
              </a:ext>
            </a:extLst>
          </p:cNvPr>
          <p:cNvSpPr>
            <a:spLocks xmlns:a="http://schemas.openxmlformats.org/drawingml/2006/main" noGrp="1"/>
          </p:cNvSpPr>
          <p:nvPr/>
        </p:nvSpPr>
        <p:spPr>
          <a:xfrm xmlns:a="http://schemas.openxmlformats.org/drawingml/2006/main">
            <a:off x="4667250" y="1724025"/>
            <a:ext cx="657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FFFFFF"/>
                </a:solidFill>
                <a:latin typeface="Inter"/>
                <a:ea typeface="Inter"/>
                <a:cs typeface="Inter"/>
              </a:defRPr>
            </a:pPr>
            <a:r>
              <a:rPr sz="1500" b="0">
                <a:solidFill>
                  <a:srgbClr val="FFFFFF"/>
                </a:solidFill>
                <a:latin typeface="Inter"/>
                <a:ea typeface="Inter"/>
                <a:cs typeface="Inter"/>
              </a:rPr>
              <a:t>People repeatedly underestimate some task categories and overestimate others.</a:t>
            </a:r>
          </a:p>
        </p:txBody>
      </p:sp>
      <p:sp>
        <p:nvSpPr>
          <p:cNvPr id="6" name="">
            <a:extLst xmlns:a="http://schemas.openxmlformats.org/drawingml/2006/main">
              <a:ext uri="{FF2B5EF4-FFF2-40B4-BE49-F238E27FC236}">
                <a16:creationId xmlns:a16="http://schemas.microsoft.com/office/drawing/2014/main" id="{D4D4AE18-A99B-44C8-A68B-0788EE99B148}"/>
              </a:ext>
            </a:extLst>
          </p:cNvPr>
          <p:cNvSpPr>
            <a:spLocks xmlns:a="http://schemas.openxmlformats.org/drawingml/2006/main" noGrp="1"/>
          </p:cNvSpPr>
          <p:nvPr/>
        </p:nvSpPr>
        <p:spPr>
          <a:xfrm xmlns:a="http://schemas.openxmlformats.org/drawingml/2006/main">
            <a:off x="685800" y="262890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FFFFF"/>
                </a:solidFill>
                <a:latin typeface="Inter"/>
                <a:ea typeface="Inter"/>
                <a:cs typeface="Inter"/>
              </a:defRPr>
            </a:pPr>
            <a:r>
              <a:rPr sz="1350" b="1">
                <a:solidFill>
                  <a:srgbClr val="FFFFFF"/>
                </a:solidFill>
                <a:latin typeface="Inter"/>
                <a:ea typeface="Inter"/>
                <a:cs typeface="Inter"/>
              </a:rPr>
              <a:t>02</a:t>
            </a:r>
          </a:p>
        </p:txBody>
      </p:sp>
      <p:sp>
        <p:nvSpPr>
          <p:cNvPr id="7" name="">
            <a:extLst xmlns:a="http://schemas.openxmlformats.org/drawingml/2006/main">
              <a:ext uri="{FF2B5EF4-FFF2-40B4-BE49-F238E27FC236}">
                <a16:creationId xmlns:a16="http://schemas.microsoft.com/office/drawing/2014/main" id="{9A2CDC39-5699-4AEA-85B5-D331AE01BD10}"/>
              </a:ext>
            </a:extLst>
          </p:cNvPr>
          <p:cNvSpPr>
            <a:spLocks xmlns:a="http://schemas.openxmlformats.org/drawingml/2006/main" noGrp="1"/>
          </p:cNvSpPr>
          <p:nvPr/>
        </p:nvSpPr>
        <p:spPr>
          <a:xfrm xmlns:a="http://schemas.openxmlformats.org/drawingml/2006/main">
            <a:off x="1466850" y="2609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FFFFF"/>
                </a:solidFill>
                <a:latin typeface="Inter"/>
                <a:ea typeface="Inter"/>
                <a:cs typeface="Inter"/>
              </a:defRPr>
            </a:pPr>
            <a:r>
              <a:rPr sz="1800" b="1">
                <a:solidFill>
                  <a:srgbClr val="FFFFFF"/>
                </a:solidFill>
                <a:latin typeface="Inter"/>
                <a:ea typeface="Inter"/>
                <a:cs typeface="Inter"/>
              </a:rPr>
              <a:t>Context changes output</a:t>
            </a:r>
          </a:p>
        </p:txBody>
      </p:sp>
      <p:sp>
        <p:nvSpPr>
          <p:cNvPr id="8" name="">
            <a:extLst xmlns:a="http://schemas.openxmlformats.org/drawingml/2006/main">
              <a:ext uri="{FF2B5EF4-FFF2-40B4-BE49-F238E27FC236}">
                <a16:creationId xmlns:a16="http://schemas.microsoft.com/office/drawing/2014/main" id="{880A16E0-522D-4E31-B379-7F7D0669DA6F}"/>
              </a:ext>
            </a:extLst>
          </p:cNvPr>
          <p:cNvSpPr>
            <a:spLocks xmlns:a="http://schemas.openxmlformats.org/drawingml/2006/main" noGrp="1"/>
          </p:cNvSpPr>
          <p:nvPr/>
        </p:nvSpPr>
        <p:spPr>
          <a:xfrm xmlns:a="http://schemas.openxmlformats.org/drawingml/2006/main">
            <a:off x="4667250" y="2619375"/>
            <a:ext cx="657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FFFFFF"/>
                </a:solidFill>
                <a:latin typeface="Inter"/>
                <a:ea typeface="Inter"/>
                <a:cs typeface="Inter"/>
              </a:defRPr>
            </a:pPr>
            <a:r>
              <a:rPr sz="1500" b="0">
                <a:solidFill>
                  <a:srgbClr val="FFFFFF"/>
                </a:solidFill>
                <a:latin typeface="Inter"/>
                <a:ea typeface="Inter"/>
                <a:cs typeface="Inter"/>
              </a:rPr>
              <a:t>The same task takes longer during low energy periods or under deadline pressure.</a:t>
            </a:r>
          </a:p>
        </p:txBody>
      </p:sp>
      <p:sp>
        <p:nvSpPr>
          <p:cNvPr id="9" name="">
            <a:extLst xmlns:a="http://schemas.openxmlformats.org/drawingml/2006/main">
              <a:ext uri="{FF2B5EF4-FFF2-40B4-BE49-F238E27FC236}">
                <a16:creationId xmlns:a16="http://schemas.microsoft.com/office/drawing/2014/main" id="{98E59663-40E2-402D-B45C-8B0617D3A02C}"/>
              </a:ext>
            </a:extLst>
          </p:cNvPr>
          <p:cNvSpPr>
            <a:spLocks xmlns:a="http://schemas.openxmlformats.org/drawingml/2006/main" noGrp="1"/>
          </p:cNvSpPr>
          <p:nvPr/>
        </p:nvSpPr>
        <p:spPr>
          <a:xfrm xmlns:a="http://schemas.openxmlformats.org/drawingml/2006/main">
            <a:off x="685800" y="352425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FFFFF"/>
                </a:solidFill>
                <a:latin typeface="Inter"/>
                <a:ea typeface="Inter"/>
                <a:cs typeface="Inter"/>
              </a:defRPr>
            </a:pPr>
            <a:r>
              <a:rPr sz="1350" b="1">
                <a:solidFill>
                  <a:srgbClr val="FFFFFF"/>
                </a:solidFill>
                <a:latin typeface="Inter"/>
                <a:ea typeface="Inter"/>
                <a:cs typeface="Inter"/>
              </a:rPr>
              <a:t>03</a:t>
            </a:r>
          </a:p>
        </p:txBody>
      </p:sp>
      <p:sp>
        <p:nvSpPr>
          <p:cNvPr id="10" name="">
            <a:extLst xmlns:a="http://schemas.openxmlformats.org/drawingml/2006/main">
              <a:ext uri="{FF2B5EF4-FFF2-40B4-BE49-F238E27FC236}">
                <a16:creationId xmlns:a16="http://schemas.microsoft.com/office/drawing/2014/main" id="{DE53CD7C-6133-482D-891E-AAFA46672418}"/>
              </a:ext>
            </a:extLst>
          </p:cNvPr>
          <p:cNvSpPr>
            <a:spLocks xmlns:a="http://schemas.openxmlformats.org/drawingml/2006/main" noGrp="1"/>
          </p:cNvSpPr>
          <p:nvPr/>
        </p:nvSpPr>
        <p:spPr>
          <a:xfrm xmlns:a="http://schemas.openxmlformats.org/drawingml/2006/main">
            <a:off x="1466850" y="3505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06"/>
          </a:bodyPr>
          <a:lstStyle xmlns:a="http://schemas.openxmlformats.org/drawingml/2006/main"/>
          <a:p xmlns:a="http://schemas.openxmlformats.org/drawingml/2006/main">
            <a:pPr algn="l">
              <a:lnSpc>
                <a:spcPct val="100000"/>
              </a:lnSpc>
              <a:buNone/>
              <a:defRPr sz="1800" b="1">
                <a:solidFill>
                  <a:srgbClr val="FFFFFF"/>
                </a:solidFill>
                <a:latin typeface="Inter"/>
                <a:ea typeface="Inter"/>
                <a:cs typeface="Inter"/>
              </a:defRPr>
            </a:pPr>
            <a:r>
              <a:rPr sz="1800" b="1">
                <a:solidFill>
                  <a:srgbClr val="FFFFFF"/>
                </a:solidFill>
                <a:latin typeface="Inter"/>
                <a:ea typeface="Inter"/>
                <a:cs typeface="Inter"/>
              </a:rPr>
              <a:t>Interruptions add hidden time</a:t>
            </a:r>
          </a:p>
        </p:txBody>
      </p:sp>
      <p:sp>
        <p:nvSpPr>
          <p:cNvPr id="11" name="">
            <a:extLst xmlns:a="http://schemas.openxmlformats.org/drawingml/2006/main">
              <a:ext uri="{FF2B5EF4-FFF2-40B4-BE49-F238E27FC236}">
                <a16:creationId xmlns:a16="http://schemas.microsoft.com/office/drawing/2014/main" id="{732F0947-C525-4D71-9DF5-2623C8678D5C}"/>
              </a:ext>
            </a:extLst>
          </p:cNvPr>
          <p:cNvSpPr>
            <a:spLocks xmlns:a="http://schemas.openxmlformats.org/drawingml/2006/main" noGrp="1"/>
          </p:cNvSpPr>
          <p:nvPr/>
        </p:nvSpPr>
        <p:spPr>
          <a:xfrm xmlns:a="http://schemas.openxmlformats.org/drawingml/2006/main">
            <a:off x="4667250" y="3514725"/>
            <a:ext cx="657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FFFFFF"/>
                </a:solidFill>
                <a:latin typeface="Inter"/>
                <a:ea typeface="Inter"/>
                <a:cs typeface="Inter"/>
              </a:defRPr>
            </a:pPr>
            <a:r>
              <a:rPr sz="1500" b="0">
                <a:solidFill>
                  <a:srgbClr val="FFFFFF"/>
                </a:solidFill>
                <a:latin typeface="Inter"/>
                <a:ea typeface="Inter"/>
                <a:cs typeface="Inter"/>
              </a:rPr>
              <a:t>Switching away from a task creates recovery time that calendars rarely include.</a:t>
            </a:r>
          </a:p>
        </p:txBody>
      </p:sp>
      <p:sp>
        <p:nvSpPr>
          <p:cNvPr id="12" name="">
            <a:extLst xmlns:a="http://schemas.openxmlformats.org/drawingml/2006/main">
              <a:ext uri="{FF2B5EF4-FFF2-40B4-BE49-F238E27FC236}">
                <a16:creationId xmlns:a16="http://schemas.microsoft.com/office/drawing/2014/main" id="{B90359EA-E9A9-449C-ACBE-933714A7149E}"/>
              </a:ext>
            </a:extLst>
          </p:cNvPr>
          <p:cNvSpPr>
            <a:spLocks xmlns:a="http://schemas.openxmlformats.org/drawingml/2006/main" noGrp="1"/>
          </p:cNvSpPr>
          <p:nvPr/>
        </p:nvSpPr>
        <p:spPr>
          <a:xfrm xmlns:a="http://schemas.openxmlformats.org/drawingml/2006/main">
            <a:off x="685800" y="441960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FFFFF"/>
                </a:solidFill>
                <a:latin typeface="Inter"/>
                <a:ea typeface="Inter"/>
                <a:cs typeface="Inter"/>
              </a:defRPr>
            </a:pPr>
            <a:r>
              <a:rPr sz="1350" b="1">
                <a:solidFill>
                  <a:srgbClr val="FFFFFF"/>
                </a:solidFill>
                <a:latin typeface="Inter"/>
                <a:ea typeface="Inter"/>
                <a:cs typeface="Inter"/>
              </a:rPr>
              <a:t>04</a:t>
            </a:r>
          </a:p>
        </p:txBody>
      </p:sp>
      <p:sp>
        <p:nvSpPr>
          <p:cNvPr id="13" name="">
            <a:extLst xmlns:a="http://schemas.openxmlformats.org/drawingml/2006/main">
              <a:ext uri="{FF2B5EF4-FFF2-40B4-BE49-F238E27FC236}">
                <a16:creationId xmlns:a16="http://schemas.microsoft.com/office/drawing/2014/main" id="{F4CC8C4C-A96E-46A0-96E5-F9241815101B}"/>
              </a:ext>
            </a:extLst>
          </p:cNvPr>
          <p:cNvSpPr>
            <a:spLocks xmlns:a="http://schemas.openxmlformats.org/drawingml/2006/main" noGrp="1"/>
          </p:cNvSpPr>
          <p:nvPr/>
        </p:nvSpPr>
        <p:spPr>
          <a:xfrm xmlns:a="http://schemas.openxmlformats.org/drawingml/2006/main">
            <a:off x="1466850" y="4400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FFFFF"/>
                </a:solidFill>
                <a:latin typeface="Inter"/>
                <a:ea typeface="Inter"/>
                <a:cs typeface="Inter"/>
              </a:defRPr>
            </a:pPr>
            <a:r>
              <a:rPr sz="1800" b="1">
                <a:solidFill>
                  <a:srgbClr val="FFFFFF"/>
                </a:solidFill>
                <a:latin typeface="Inter"/>
                <a:ea typeface="Inter"/>
                <a:cs typeface="Inter"/>
              </a:rPr>
              <a:t>One delay spreads</a:t>
            </a:r>
          </a:p>
        </p:txBody>
      </p:sp>
      <p:sp>
        <p:nvSpPr>
          <p:cNvPr id="14" name="">
            <a:extLst xmlns:a="http://schemas.openxmlformats.org/drawingml/2006/main">
              <a:ext uri="{FF2B5EF4-FFF2-40B4-BE49-F238E27FC236}">
                <a16:creationId xmlns:a16="http://schemas.microsoft.com/office/drawing/2014/main" id="{3B0659FE-F936-489A-9AC9-13718407BFB3}"/>
              </a:ext>
            </a:extLst>
          </p:cNvPr>
          <p:cNvSpPr>
            <a:spLocks xmlns:a="http://schemas.openxmlformats.org/drawingml/2006/main" noGrp="1"/>
          </p:cNvSpPr>
          <p:nvPr/>
        </p:nvSpPr>
        <p:spPr>
          <a:xfrm xmlns:a="http://schemas.openxmlformats.org/drawingml/2006/main">
            <a:off x="4667250" y="4410075"/>
            <a:ext cx="657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FFFFFF"/>
                </a:solidFill>
                <a:latin typeface="Inter"/>
                <a:ea typeface="Inter"/>
                <a:cs typeface="Inter"/>
              </a:defRPr>
            </a:pPr>
            <a:r>
              <a:rPr sz="1500" b="0">
                <a:solidFill>
                  <a:srgbClr val="FFFFFF"/>
                </a:solidFill>
                <a:latin typeface="Inter"/>
                <a:ea typeface="Inter"/>
                <a:cs typeface="Inter"/>
              </a:rPr>
              <a:t>A static planner keeps every later block unchanged even when the day has already slipped.</a:t>
            </a:r>
          </a:p>
        </p:txBody>
      </p:sp>
      <p:sp>
        <p:nvSpPr>
          <p:cNvPr id="15" name="">
            <a:extLst xmlns:a="http://schemas.openxmlformats.org/drawingml/2006/main">
              <a:ext uri="{FF2B5EF4-FFF2-40B4-BE49-F238E27FC236}">
                <a16:creationId xmlns:a16="http://schemas.microsoft.com/office/drawing/2014/main" id="{5B03B0E5-9C63-4A52-946F-2537BAFCC3E8}"/>
              </a:ext>
            </a:extLst>
          </p:cNvPr>
          <p:cNvSpPr>
            <a:spLocks xmlns:a="http://schemas.openxmlformats.org/drawingml/2006/main" noGrp="1"/>
          </p:cNvSpPr>
          <p:nvPr/>
        </p:nvSpPr>
        <p:spPr>
          <a:xfrm xmlns:a="http://schemas.openxmlformats.org/drawingml/2006/main">
            <a:off x="685800" y="5619750"/>
            <a:ext cx="9144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625" b="1">
                <a:solidFill>
                  <a:srgbClr val="FFFFFF"/>
                </a:solidFill>
                <a:latin typeface="Inter"/>
                <a:ea typeface="Inter"/>
                <a:cs typeface="Inter"/>
              </a:defRPr>
            </a:pPr>
            <a:r>
              <a:rPr sz="2625" b="1">
                <a:solidFill>
                  <a:srgbClr val="FFFFFF"/>
                </a:solidFill>
                <a:latin typeface="Inter"/>
                <a:ea typeface="Inter"/>
                <a:cs typeface="Inter"/>
              </a:rPr>
              <a:t>One inaccurate task shifts every deadline after it</a:t>
            </a:r>
          </a:p>
        </p:txBody>
      </p:sp>
      <p:sp>
        <p:nvSpPr>
          <p:cNvPr id="16" name="">
            <a:extLst xmlns:a="http://schemas.openxmlformats.org/drawingml/2006/main">
              <a:ext uri="{FF2B5EF4-FFF2-40B4-BE49-F238E27FC236}">
                <a16:creationId xmlns:a16="http://schemas.microsoft.com/office/drawing/2014/main" id="{E83B6893-BD02-4C31-8FEB-9DCAE4E5CADE}"/>
              </a:ext>
            </a:extLst>
          </p:cNvPr>
          <p:cNvSpPr>
            <a:spLocks xmlns:a="http://schemas.openxmlformats.org/drawingml/2006/main" noGrp="1"/>
          </p:cNvSpPr>
          <p:nvPr/>
        </p:nvSpPr>
        <p:spPr>
          <a:xfrm xmlns:a="http://schemas.openxmlformats.org/drawingml/2006/main">
            <a:off x="11382375" y="62388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FFFFFF"/>
                </a:solidFill>
                <a:latin typeface="Inter"/>
                <a:ea typeface="Inter"/>
                <a:cs typeface="Inter"/>
              </a:defRPr>
            </a:pPr>
            <a:r>
              <a:rPr sz="1050" b="1">
                <a:solidFill>
                  <a:srgbClr val="FFFFFF"/>
                </a:solidFill>
                <a:latin typeface="Inter"/>
                <a:ea typeface="Inter"/>
                <a:cs typeface="Inter"/>
              </a:rPr>
              <a:t>02</a:t>
            </a:r>
          </a:p>
        </p:txBody>
      </p:sp>
    </p:spTree>
    <p:extLst>
      <p:ext uri="{BB962C8B-B14F-4D97-AF65-F5344CB8AC3E}">
        <p14:creationId xmlns:p14="http://schemas.microsoft.com/office/powerpoint/2010/main" val="21207347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ECCF97A-2E2D-48A5-BEA5-DBAFEABFDCE2}"/>
              </a:ext>
            </a:extLst>
          </p:cNvPr>
          <p:cNvSpPr>
            <a:spLocks xmlns:a="http://schemas.openxmlformats.org/drawingml/2006/main" noGrp="1"/>
          </p:cNvSpPr>
          <p:nvPr/>
        </p:nvSpPr>
        <p:spPr>
          <a:xfrm xmlns:a="http://schemas.openxmlformats.org/drawingml/2006/main">
            <a:off x="685800" y="5143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19"/>
          </a:bodyPr>
          <a:lstStyle xmlns:a="http://schemas.openxmlformats.org/drawingml/2006/main"/>
          <a:p xmlns:a="http://schemas.openxmlformats.org/drawingml/2006/main">
            <a:pPr algn="l">
              <a:lnSpc>
                <a:spcPct val="100000"/>
              </a:lnSpc>
              <a:buNone/>
              <a:defRPr sz="3300" b="1">
                <a:solidFill>
                  <a:srgbClr val="111111"/>
                </a:solidFill>
                <a:latin typeface="Inter"/>
                <a:ea typeface="Inter"/>
                <a:cs typeface="Inter"/>
              </a:defRPr>
            </a:pPr>
            <a:r>
              <a:rPr sz="3300" b="1">
                <a:solidFill>
                  <a:srgbClr val="111111"/>
                </a:solidFill>
                <a:latin typeface="Inter"/>
                <a:ea typeface="Inter"/>
                <a:cs typeface="Inter"/>
              </a:rPr>
              <a:t>TimeLens corrects duration before building the day</a:t>
            </a:r>
          </a:p>
        </p:txBody>
      </p:sp>
      <p:sp>
        <p:nvSpPr>
          <p:cNvPr id="2" name="">
            <a:extLst xmlns:a="http://schemas.openxmlformats.org/drawingml/2006/main">
              <a:ext uri="{FF2B5EF4-FFF2-40B4-BE49-F238E27FC236}">
                <a16:creationId xmlns:a16="http://schemas.microsoft.com/office/drawing/2014/main" id="{2A3F403F-2644-4C0D-9735-C658E48E3D46}"/>
              </a:ext>
            </a:extLst>
          </p:cNvPr>
          <p:cNvSpPr>
            <a:spLocks xmlns:a="http://schemas.openxmlformats.org/drawingml/2006/main" noGrp="1"/>
          </p:cNvSpPr>
          <p:nvPr/>
        </p:nvSpPr>
        <p:spPr>
          <a:xfrm xmlns:a="http://schemas.openxmlformats.org/drawingml/2006/main">
            <a:off x="685800" y="1190625"/>
            <a:ext cx="742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253653"/>
                </a:solidFill>
                <a:latin typeface="Inter"/>
                <a:ea typeface="Inter"/>
                <a:cs typeface="Inter"/>
              </a:defRPr>
            </a:pPr>
            <a:r>
              <a:rPr sz="1500" b="0">
                <a:solidFill>
                  <a:srgbClr val="253653"/>
                </a:solidFill>
                <a:latin typeface="Inter"/>
                <a:ea typeface="Inter"/>
                <a:cs typeface="Inter"/>
              </a:rPr>
              <a:t>The MVP keeps the logic explainable and visible to the user.</a:t>
            </a:r>
          </a:p>
        </p:txBody>
      </p:sp>
      <p:sp>
        <p:nvSpPr>
          <p:cNvPr id="3" name="">
            <a:extLst xmlns:a="http://schemas.openxmlformats.org/drawingml/2006/main">
              <a:ext uri="{FF2B5EF4-FFF2-40B4-BE49-F238E27FC236}">
                <a16:creationId xmlns:a16="http://schemas.microsoft.com/office/drawing/2014/main" id="{D5E7A2DC-A078-4EF0-9307-21E81CD5B16C}"/>
              </a:ext>
            </a:extLst>
          </p:cNvPr>
          <p:cNvSpPr>
            <a:spLocks xmlns:a="http://schemas.openxmlformats.org/drawingml/2006/main" noGrp="1"/>
          </p:cNvSpPr>
          <p:nvPr/>
        </p:nvSpPr>
        <p:spPr>
          <a:xfrm xmlns:a="http://schemas.openxmlformats.org/drawingml/2006/main">
            <a:off x="685800" y="2143125"/>
            <a:ext cx="495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253653"/>
                </a:solidFill>
                <a:latin typeface="Inter"/>
                <a:ea typeface="Inter"/>
                <a:cs typeface="Inter"/>
              </a:defRPr>
            </a:pPr>
            <a:r>
              <a:rPr sz="2100" b="1">
                <a:solidFill>
                  <a:srgbClr val="253653"/>
                </a:solidFill>
                <a:latin typeface="Inter"/>
                <a:ea typeface="Inter"/>
                <a:cs typeface="Inter"/>
              </a:rPr>
              <a:t>01</a:t>
            </a:r>
          </a:p>
        </p:txBody>
      </p:sp>
      <p:sp>
        <p:nvSpPr>
          <p:cNvPr id="4" name="">
            <a:extLst xmlns:a="http://schemas.openxmlformats.org/drawingml/2006/main">
              <a:ext uri="{FF2B5EF4-FFF2-40B4-BE49-F238E27FC236}">
                <a16:creationId xmlns:a16="http://schemas.microsoft.com/office/drawing/2014/main" id="{3DF153A4-629F-40B9-A6E9-438A0DC1F872}"/>
              </a:ext>
            </a:extLst>
          </p:cNvPr>
          <p:cNvSpPr>
            <a:spLocks xmlns:a="http://schemas.openxmlformats.org/drawingml/2006/main" noGrp="1"/>
          </p:cNvSpPr>
          <p:nvPr/>
        </p:nvSpPr>
        <p:spPr>
          <a:xfrm xmlns:a="http://schemas.openxmlformats.org/drawingml/2006/main">
            <a:off x="685800" y="2686050"/>
            <a:ext cx="2095500" cy="28575"/>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A5CF939-3873-4342-B42E-0CFEE0FCACDE}"/>
              </a:ext>
            </a:extLst>
          </p:cNvPr>
          <p:cNvSpPr>
            <a:spLocks xmlns:a="http://schemas.openxmlformats.org/drawingml/2006/main" noGrp="1"/>
          </p:cNvSpPr>
          <p:nvPr/>
        </p:nvSpPr>
        <p:spPr>
          <a:xfrm xmlns:a="http://schemas.openxmlformats.org/drawingml/2006/main">
            <a:off x="685800" y="2914650"/>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111111"/>
                </a:solidFill>
                <a:latin typeface="Inter"/>
                <a:ea typeface="Inter"/>
                <a:cs typeface="Inter"/>
              </a:defRPr>
            </a:pPr>
            <a:r>
              <a:rPr sz="1425" b="1">
                <a:solidFill>
                  <a:srgbClr val="111111"/>
                </a:solidFill>
                <a:latin typeface="Inter"/>
                <a:ea typeface="Inter"/>
                <a:cs typeface="Inter"/>
              </a:rPr>
              <a:t>TASK CONTEXT</a:t>
            </a:r>
          </a:p>
        </p:txBody>
      </p:sp>
      <p:sp>
        <p:nvSpPr>
          <p:cNvPr id="6" name="">
            <a:extLst xmlns:a="http://schemas.openxmlformats.org/drawingml/2006/main">
              <a:ext uri="{FF2B5EF4-FFF2-40B4-BE49-F238E27FC236}">
                <a16:creationId xmlns:a16="http://schemas.microsoft.com/office/drawing/2014/main" id="{F0898A25-7F8D-41CC-BDAB-BED9B3ACFE81}"/>
              </a:ext>
            </a:extLst>
          </p:cNvPr>
          <p:cNvSpPr>
            <a:spLocks xmlns:a="http://schemas.openxmlformats.org/drawingml/2006/main" noGrp="1"/>
          </p:cNvSpPr>
          <p:nvPr/>
        </p:nvSpPr>
        <p:spPr>
          <a:xfrm xmlns:a="http://schemas.openxmlformats.org/drawingml/2006/main">
            <a:off x="685800" y="3390900"/>
            <a:ext cx="219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11111"/>
                </a:solidFill>
                <a:latin typeface="Inter"/>
                <a:ea typeface="Inter"/>
                <a:cs typeface="Inter"/>
              </a:defRPr>
            </a:pPr>
            <a:r>
              <a:rPr sz="1425" b="0">
                <a:solidFill>
                  <a:srgbClr val="111111"/>
                </a:solidFill>
                <a:latin typeface="Inter"/>
                <a:ea typeface="Inter"/>
                <a:cs typeface="Inter"/>
              </a:rPr>
              <a:t>Estimate, category, deadline and time of day</a:t>
            </a:r>
          </a:p>
        </p:txBody>
      </p:sp>
      <p:sp>
        <p:nvSpPr>
          <p:cNvPr id="7" name="">
            <a:extLst xmlns:a="http://schemas.openxmlformats.org/drawingml/2006/main">
              <a:ext uri="{FF2B5EF4-FFF2-40B4-BE49-F238E27FC236}">
                <a16:creationId xmlns:a16="http://schemas.microsoft.com/office/drawing/2014/main" id="{B0BAFC95-E81B-454C-A070-CF9747AD0D0D}"/>
              </a:ext>
            </a:extLst>
          </p:cNvPr>
          <p:cNvSpPr>
            <a:spLocks xmlns:a="http://schemas.openxmlformats.org/drawingml/2006/main" noGrp="1"/>
          </p:cNvSpPr>
          <p:nvPr/>
        </p:nvSpPr>
        <p:spPr>
          <a:xfrm xmlns:a="http://schemas.openxmlformats.org/drawingml/2006/main">
            <a:off x="2819400" y="2686050"/>
            <a:ext cx="552450" cy="95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ADCC5EA-9C12-4A82-B22D-D9187B3544D0}"/>
              </a:ext>
            </a:extLst>
          </p:cNvPr>
          <p:cNvSpPr>
            <a:spLocks xmlns:a="http://schemas.openxmlformats.org/drawingml/2006/main" noGrp="1"/>
          </p:cNvSpPr>
          <p:nvPr/>
        </p:nvSpPr>
        <p:spPr>
          <a:xfrm xmlns:a="http://schemas.openxmlformats.org/drawingml/2006/main">
            <a:off x="3467100" y="2143125"/>
            <a:ext cx="495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253653"/>
                </a:solidFill>
                <a:latin typeface="Inter"/>
                <a:ea typeface="Inter"/>
                <a:cs typeface="Inter"/>
              </a:defRPr>
            </a:pPr>
            <a:r>
              <a:rPr sz="2100" b="1">
                <a:solidFill>
                  <a:srgbClr val="253653"/>
                </a:solidFill>
                <a:latin typeface="Inter"/>
                <a:ea typeface="Inter"/>
                <a:cs typeface="Inter"/>
              </a:rPr>
              <a:t>02</a:t>
            </a:r>
          </a:p>
        </p:txBody>
      </p:sp>
      <p:sp>
        <p:nvSpPr>
          <p:cNvPr id="9" name="">
            <a:extLst xmlns:a="http://schemas.openxmlformats.org/drawingml/2006/main">
              <a:ext uri="{FF2B5EF4-FFF2-40B4-BE49-F238E27FC236}">
                <a16:creationId xmlns:a16="http://schemas.microsoft.com/office/drawing/2014/main" id="{87724164-E81E-4AC5-9354-58BED0D396CD}"/>
              </a:ext>
            </a:extLst>
          </p:cNvPr>
          <p:cNvSpPr>
            <a:spLocks xmlns:a="http://schemas.openxmlformats.org/drawingml/2006/main" noGrp="1"/>
          </p:cNvSpPr>
          <p:nvPr/>
        </p:nvSpPr>
        <p:spPr>
          <a:xfrm xmlns:a="http://schemas.openxmlformats.org/drawingml/2006/main">
            <a:off x="3467100" y="2686050"/>
            <a:ext cx="2095500" cy="28575"/>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76B77BC-B310-4841-9D00-D0B86A6E1C3C}"/>
              </a:ext>
            </a:extLst>
          </p:cNvPr>
          <p:cNvSpPr>
            <a:spLocks xmlns:a="http://schemas.openxmlformats.org/drawingml/2006/main" noGrp="1"/>
          </p:cNvSpPr>
          <p:nvPr/>
        </p:nvSpPr>
        <p:spPr>
          <a:xfrm xmlns:a="http://schemas.openxmlformats.org/drawingml/2006/main">
            <a:off x="3467100" y="2914650"/>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111111"/>
                </a:solidFill>
                <a:latin typeface="Inter"/>
                <a:ea typeface="Inter"/>
                <a:cs typeface="Inter"/>
              </a:defRPr>
            </a:pPr>
            <a:r>
              <a:rPr sz="1425" b="1">
                <a:solidFill>
                  <a:srgbClr val="111111"/>
                </a:solidFill>
                <a:latin typeface="Inter"/>
                <a:ea typeface="Inter"/>
                <a:cs typeface="Inter"/>
              </a:rPr>
              <a:t>PERSONAL HISTORY</a:t>
            </a:r>
          </a:p>
        </p:txBody>
      </p:sp>
      <p:sp>
        <p:nvSpPr>
          <p:cNvPr id="11" name="">
            <a:extLst xmlns:a="http://schemas.openxmlformats.org/drawingml/2006/main">
              <a:ext uri="{FF2B5EF4-FFF2-40B4-BE49-F238E27FC236}">
                <a16:creationId xmlns:a16="http://schemas.microsoft.com/office/drawing/2014/main" id="{90BB2750-11E7-431E-B7DA-2F9887049AF1}"/>
              </a:ext>
            </a:extLst>
          </p:cNvPr>
          <p:cNvSpPr>
            <a:spLocks xmlns:a="http://schemas.openxmlformats.org/drawingml/2006/main" noGrp="1"/>
          </p:cNvSpPr>
          <p:nvPr/>
        </p:nvSpPr>
        <p:spPr>
          <a:xfrm xmlns:a="http://schemas.openxmlformats.org/drawingml/2006/main">
            <a:off x="3467100" y="3390900"/>
            <a:ext cx="219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11111"/>
                </a:solidFill>
                <a:latin typeface="Inter"/>
                <a:ea typeface="Inter"/>
                <a:cs typeface="Inter"/>
              </a:defRPr>
            </a:pPr>
            <a:r>
              <a:rPr sz="1425" b="0">
                <a:solidFill>
                  <a:srgbClr val="111111"/>
                </a:solidFill>
                <a:latin typeface="Inter"/>
                <a:ea typeface="Inter"/>
                <a:cs typeface="Inter"/>
              </a:rPr>
              <a:t>Similar tasks and the user’s past estimation error</a:t>
            </a:r>
          </a:p>
        </p:txBody>
      </p:sp>
      <p:sp>
        <p:nvSpPr>
          <p:cNvPr id="12" name="">
            <a:extLst xmlns:a="http://schemas.openxmlformats.org/drawingml/2006/main">
              <a:ext uri="{FF2B5EF4-FFF2-40B4-BE49-F238E27FC236}">
                <a16:creationId xmlns:a16="http://schemas.microsoft.com/office/drawing/2014/main" id="{61701233-0247-4A8A-B412-7BB631F10F04}"/>
              </a:ext>
            </a:extLst>
          </p:cNvPr>
          <p:cNvSpPr>
            <a:spLocks xmlns:a="http://schemas.openxmlformats.org/drawingml/2006/main" noGrp="1"/>
          </p:cNvSpPr>
          <p:nvPr/>
        </p:nvSpPr>
        <p:spPr>
          <a:xfrm xmlns:a="http://schemas.openxmlformats.org/drawingml/2006/main">
            <a:off x="5600700" y="2686050"/>
            <a:ext cx="552450" cy="95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21F72B4-AC94-4BEB-B2DF-A0785E6FB588}"/>
              </a:ext>
            </a:extLst>
          </p:cNvPr>
          <p:cNvSpPr>
            <a:spLocks xmlns:a="http://schemas.openxmlformats.org/drawingml/2006/main" noGrp="1"/>
          </p:cNvSpPr>
          <p:nvPr/>
        </p:nvSpPr>
        <p:spPr>
          <a:xfrm xmlns:a="http://schemas.openxmlformats.org/drawingml/2006/main">
            <a:off x="6248400" y="2143125"/>
            <a:ext cx="495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253653"/>
                </a:solidFill>
                <a:latin typeface="Inter"/>
                <a:ea typeface="Inter"/>
                <a:cs typeface="Inter"/>
              </a:defRPr>
            </a:pPr>
            <a:r>
              <a:rPr sz="2100" b="1">
                <a:solidFill>
                  <a:srgbClr val="253653"/>
                </a:solidFill>
                <a:latin typeface="Inter"/>
                <a:ea typeface="Inter"/>
                <a:cs typeface="Inter"/>
              </a:rPr>
              <a:t>03</a:t>
            </a:r>
          </a:p>
        </p:txBody>
      </p:sp>
      <p:sp>
        <p:nvSpPr>
          <p:cNvPr id="14" name="">
            <a:extLst xmlns:a="http://schemas.openxmlformats.org/drawingml/2006/main">
              <a:ext uri="{FF2B5EF4-FFF2-40B4-BE49-F238E27FC236}">
                <a16:creationId xmlns:a16="http://schemas.microsoft.com/office/drawing/2014/main" id="{1B4DF4D0-2D97-4655-AB3C-720F1ED7EF21}"/>
              </a:ext>
            </a:extLst>
          </p:cNvPr>
          <p:cNvSpPr>
            <a:spLocks xmlns:a="http://schemas.openxmlformats.org/drawingml/2006/main" noGrp="1"/>
          </p:cNvSpPr>
          <p:nvPr/>
        </p:nvSpPr>
        <p:spPr>
          <a:xfrm xmlns:a="http://schemas.openxmlformats.org/drawingml/2006/main">
            <a:off x="6248400" y="2686050"/>
            <a:ext cx="2095500" cy="28575"/>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E27501E-6C33-4143-9D20-08C1FD042CA4}"/>
              </a:ext>
            </a:extLst>
          </p:cNvPr>
          <p:cNvSpPr>
            <a:spLocks xmlns:a="http://schemas.openxmlformats.org/drawingml/2006/main" noGrp="1"/>
          </p:cNvSpPr>
          <p:nvPr/>
        </p:nvSpPr>
        <p:spPr>
          <a:xfrm xmlns:a="http://schemas.openxmlformats.org/drawingml/2006/main">
            <a:off x="6248400" y="2914650"/>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111111"/>
                </a:solidFill>
                <a:latin typeface="Inter"/>
                <a:ea typeface="Inter"/>
                <a:cs typeface="Inter"/>
              </a:defRPr>
            </a:pPr>
            <a:r>
              <a:rPr sz="1425" b="1">
                <a:solidFill>
                  <a:srgbClr val="111111"/>
                </a:solidFill>
                <a:latin typeface="Inter"/>
                <a:ea typeface="Inter"/>
                <a:cs typeface="Inter"/>
              </a:rPr>
              <a:t>CORRECTED FORECAST</a:t>
            </a:r>
          </a:p>
        </p:txBody>
      </p:sp>
      <p:sp>
        <p:nvSpPr>
          <p:cNvPr id="16" name="">
            <a:extLst xmlns:a="http://schemas.openxmlformats.org/drawingml/2006/main">
              <a:ext uri="{FF2B5EF4-FFF2-40B4-BE49-F238E27FC236}">
                <a16:creationId xmlns:a16="http://schemas.microsoft.com/office/drawing/2014/main" id="{7BCF2514-EC3F-45A1-B916-9DEA6B40F562}"/>
              </a:ext>
            </a:extLst>
          </p:cNvPr>
          <p:cNvSpPr>
            <a:spLocks xmlns:a="http://schemas.openxmlformats.org/drawingml/2006/main" noGrp="1"/>
          </p:cNvSpPr>
          <p:nvPr/>
        </p:nvSpPr>
        <p:spPr>
          <a:xfrm xmlns:a="http://schemas.openxmlformats.org/drawingml/2006/main">
            <a:off x="6248400" y="3390900"/>
            <a:ext cx="219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11111"/>
                </a:solidFill>
                <a:latin typeface="Inter"/>
                <a:ea typeface="Inter"/>
                <a:cs typeface="Inter"/>
              </a:defRPr>
            </a:pPr>
            <a:r>
              <a:rPr sz="1425" b="0">
                <a:solidFill>
                  <a:srgbClr val="111111"/>
                </a:solidFill>
                <a:latin typeface="Inter"/>
                <a:ea typeface="Inter"/>
                <a:cs typeface="Inter"/>
              </a:rPr>
              <a:t>Predicted duration with a plain language explanation</a:t>
            </a:r>
          </a:p>
        </p:txBody>
      </p:sp>
      <p:sp>
        <p:nvSpPr>
          <p:cNvPr id="17" name="">
            <a:extLst xmlns:a="http://schemas.openxmlformats.org/drawingml/2006/main">
              <a:ext uri="{FF2B5EF4-FFF2-40B4-BE49-F238E27FC236}">
                <a16:creationId xmlns:a16="http://schemas.microsoft.com/office/drawing/2014/main" id="{EFAA0736-9C98-4102-A681-8FD8461701F7}"/>
              </a:ext>
            </a:extLst>
          </p:cNvPr>
          <p:cNvSpPr>
            <a:spLocks xmlns:a="http://schemas.openxmlformats.org/drawingml/2006/main" noGrp="1"/>
          </p:cNvSpPr>
          <p:nvPr/>
        </p:nvSpPr>
        <p:spPr>
          <a:xfrm xmlns:a="http://schemas.openxmlformats.org/drawingml/2006/main">
            <a:off x="8382000" y="2686050"/>
            <a:ext cx="552450" cy="95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1009D4F-CFA9-404E-AFFD-722035D2B40E}"/>
              </a:ext>
            </a:extLst>
          </p:cNvPr>
          <p:cNvSpPr>
            <a:spLocks xmlns:a="http://schemas.openxmlformats.org/drawingml/2006/main" noGrp="1"/>
          </p:cNvSpPr>
          <p:nvPr/>
        </p:nvSpPr>
        <p:spPr>
          <a:xfrm xmlns:a="http://schemas.openxmlformats.org/drawingml/2006/main">
            <a:off x="9029700" y="2143125"/>
            <a:ext cx="495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253653"/>
                </a:solidFill>
                <a:latin typeface="Inter"/>
                <a:ea typeface="Inter"/>
                <a:cs typeface="Inter"/>
              </a:defRPr>
            </a:pPr>
            <a:r>
              <a:rPr sz="2100" b="1">
                <a:solidFill>
                  <a:srgbClr val="253653"/>
                </a:solidFill>
                <a:latin typeface="Inter"/>
                <a:ea typeface="Inter"/>
                <a:cs typeface="Inter"/>
              </a:rPr>
              <a:t>04</a:t>
            </a:r>
          </a:p>
        </p:txBody>
      </p:sp>
      <p:sp>
        <p:nvSpPr>
          <p:cNvPr id="19" name="">
            <a:extLst xmlns:a="http://schemas.openxmlformats.org/drawingml/2006/main">
              <a:ext uri="{FF2B5EF4-FFF2-40B4-BE49-F238E27FC236}">
                <a16:creationId xmlns:a16="http://schemas.microsoft.com/office/drawing/2014/main" id="{BEE04AFC-7A14-4AF5-AE86-CF26E3403372}"/>
              </a:ext>
            </a:extLst>
          </p:cNvPr>
          <p:cNvSpPr>
            <a:spLocks xmlns:a="http://schemas.openxmlformats.org/drawingml/2006/main" noGrp="1"/>
          </p:cNvSpPr>
          <p:nvPr/>
        </p:nvSpPr>
        <p:spPr>
          <a:xfrm xmlns:a="http://schemas.openxmlformats.org/drawingml/2006/main">
            <a:off x="9029700" y="2686050"/>
            <a:ext cx="2095500" cy="28575"/>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BE0D713-3E8D-4EE4-84D5-63068D07AB54}"/>
              </a:ext>
            </a:extLst>
          </p:cNvPr>
          <p:cNvSpPr>
            <a:spLocks xmlns:a="http://schemas.openxmlformats.org/drawingml/2006/main" noGrp="1"/>
          </p:cNvSpPr>
          <p:nvPr/>
        </p:nvSpPr>
        <p:spPr>
          <a:xfrm xmlns:a="http://schemas.openxmlformats.org/drawingml/2006/main">
            <a:off x="9029700" y="2914650"/>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111111"/>
                </a:solidFill>
                <a:latin typeface="Inter"/>
                <a:ea typeface="Inter"/>
                <a:cs typeface="Inter"/>
              </a:defRPr>
            </a:pPr>
            <a:r>
              <a:rPr sz="1425" b="1">
                <a:solidFill>
                  <a:srgbClr val="111111"/>
                </a:solidFill>
                <a:latin typeface="Inter"/>
                <a:ea typeface="Inter"/>
                <a:cs typeface="Inter"/>
              </a:rPr>
              <a:t>ADAPTIVE SCHEDULE</a:t>
            </a:r>
          </a:p>
        </p:txBody>
      </p:sp>
      <p:sp>
        <p:nvSpPr>
          <p:cNvPr id="21" name="">
            <a:extLst xmlns:a="http://schemas.openxmlformats.org/drawingml/2006/main">
              <a:ext uri="{FF2B5EF4-FFF2-40B4-BE49-F238E27FC236}">
                <a16:creationId xmlns:a16="http://schemas.microsoft.com/office/drawing/2014/main" id="{A6A07D65-065A-416D-860A-9179B98FD5B9}"/>
              </a:ext>
            </a:extLst>
          </p:cNvPr>
          <p:cNvSpPr>
            <a:spLocks xmlns:a="http://schemas.openxmlformats.org/drawingml/2006/main" noGrp="1"/>
          </p:cNvSpPr>
          <p:nvPr/>
        </p:nvSpPr>
        <p:spPr>
          <a:xfrm xmlns:a="http://schemas.openxmlformats.org/drawingml/2006/main">
            <a:off x="9029700" y="3390900"/>
            <a:ext cx="219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11111"/>
                </a:solidFill>
                <a:latin typeface="Inter"/>
                <a:ea typeface="Inter"/>
                <a:cs typeface="Inter"/>
              </a:defRPr>
            </a:pPr>
            <a:r>
              <a:rPr sz="1425" b="0">
                <a:solidFill>
                  <a:srgbClr val="111111"/>
                </a:solidFill>
                <a:latin typeface="Inter"/>
                <a:ea typeface="Inter"/>
                <a:cs typeface="Inter"/>
              </a:rPr>
              <a:t>Remaining work moves after completion or delay</a:t>
            </a:r>
          </a:p>
        </p:txBody>
      </p:sp>
      <p:sp>
        <p:nvSpPr>
          <p:cNvPr id="22" name="">
            <a:extLst xmlns:a="http://schemas.openxmlformats.org/drawingml/2006/main">
              <a:ext uri="{FF2B5EF4-FFF2-40B4-BE49-F238E27FC236}">
                <a16:creationId xmlns:a16="http://schemas.microsoft.com/office/drawing/2014/main" id="{5B249326-E0AA-4090-8EE0-249A8D8D2BBC}"/>
              </a:ext>
            </a:extLst>
          </p:cNvPr>
          <p:cNvSpPr>
            <a:spLocks xmlns:a="http://schemas.openxmlformats.org/drawingml/2006/main" noGrp="1"/>
          </p:cNvSpPr>
          <p:nvPr/>
        </p:nvSpPr>
        <p:spPr>
          <a:xfrm xmlns:a="http://schemas.openxmlformats.org/drawingml/2006/main">
            <a:off x="685800" y="5191125"/>
            <a:ext cx="10820400" cy="895350"/>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AF19AF8-7214-45A7-B3BD-200A97D03C4E}"/>
              </a:ext>
            </a:extLst>
          </p:cNvPr>
          <p:cNvSpPr>
            <a:spLocks xmlns:a="http://schemas.openxmlformats.org/drawingml/2006/main" noGrp="1"/>
          </p:cNvSpPr>
          <p:nvPr/>
        </p:nvSpPr>
        <p:spPr>
          <a:xfrm xmlns:a="http://schemas.openxmlformats.org/drawingml/2006/main">
            <a:off x="971550" y="5457825"/>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a:solidFill>
                  <a:srgbClr val="FFFFFF"/>
                </a:solidFill>
                <a:latin typeface="Inter"/>
                <a:ea typeface="Inter"/>
                <a:cs typeface="Inter"/>
              </a:defRPr>
            </a:pPr>
            <a:r>
              <a:rPr sz="2175" b="1">
                <a:solidFill>
                  <a:srgbClr val="FFFFFF"/>
                </a:solidFill>
                <a:latin typeface="Inter"/>
                <a:ea typeface="Inter"/>
                <a:cs typeface="Inter"/>
              </a:rPr>
              <a:t>Actual completion becomes evidence for the next estimate</a:t>
            </a:r>
          </a:p>
        </p:txBody>
      </p:sp>
      <p:sp>
        <p:nvSpPr>
          <p:cNvPr id="24" name="">
            <a:extLst xmlns:a="http://schemas.openxmlformats.org/drawingml/2006/main">
              <a:ext uri="{FF2B5EF4-FFF2-40B4-BE49-F238E27FC236}">
                <a16:creationId xmlns:a16="http://schemas.microsoft.com/office/drawing/2014/main" id="{26F0D1ED-AE9B-4A3B-A691-D9ED84FDC20A}"/>
              </a:ext>
            </a:extLst>
          </p:cNvPr>
          <p:cNvSpPr>
            <a:spLocks xmlns:a="http://schemas.openxmlformats.org/drawingml/2006/main" noGrp="1"/>
          </p:cNvSpPr>
          <p:nvPr/>
        </p:nvSpPr>
        <p:spPr>
          <a:xfrm xmlns:a="http://schemas.openxmlformats.org/drawingml/2006/main">
            <a:off x="11382375" y="62388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253653"/>
                </a:solidFill>
                <a:latin typeface="Inter"/>
                <a:ea typeface="Inter"/>
                <a:cs typeface="Inter"/>
              </a:defRPr>
            </a:pPr>
            <a:r>
              <a:rPr sz="1050" b="1">
                <a:solidFill>
                  <a:srgbClr val="253653"/>
                </a:solidFill>
                <a:latin typeface="Inter"/>
                <a:ea typeface="Inter"/>
                <a:cs typeface="Inter"/>
              </a:rPr>
              <a:t>03</a:t>
            </a:r>
          </a:p>
        </p:txBody>
      </p:sp>
    </p:spTree>
    <p:extLst>
      <p:ext uri="{BB962C8B-B14F-4D97-AF65-F5344CB8AC3E}">
        <p14:creationId xmlns:p14="http://schemas.microsoft.com/office/powerpoint/2010/main" val="1621769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6815251-E632-4EE0-BAD9-C19C1D140B61}"/>
              </a:ext>
            </a:extLst>
          </p:cNvPr>
          <p:cNvSpPr>
            <a:spLocks xmlns:a="http://schemas.openxmlformats.org/drawingml/2006/main" noGrp="1"/>
          </p:cNvSpPr>
          <p:nvPr/>
        </p:nvSpPr>
        <p:spPr>
          <a:xfrm xmlns:a="http://schemas.openxmlformats.org/drawingml/2006/main">
            <a:off x="685800" y="5143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000" b="1">
                <a:solidFill>
                  <a:srgbClr val="111111"/>
                </a:solidFill>
                <a:latin typeface="Inter"/>
                <a:ea typeface="Inter"/>
                <a:cs typeface="Inter"/>
              </a:defRPr>
            </a:pPr>
            <a:r>
              <a:rPr sz="3000" b="1">
                <a:solidFill>
                  <a:srgbClr val="111111"/>
                </a:solidFill>
                <a:latin typeface="Inter"/>
                <a:ea typeface="Inter"/>
                <a:cs typeface="Inter"/>
              </a:rPr>
              <a:t>One task shows the complete feedback loop</a:t>
            </a:r>
          </a:p>
        </p:txBody>
      </p:sp>
      <p:sp>
        <p:nvSpPr>
          <p:cNvPr id="2" name="">
            <a:extLst xmlns:a="http://schemas.openxmlformats.org/drawingml/2006/main">
              <a:ext uri="{FF2B5EF4-FFF2-40B4-BE49-F238E27FC236}">
                <a16:creationId xmlns:a16="http://schemas.microsoft.com/office/drawing/2014/main" id="{38EC5A01-1416-4C2B-8A5D-EF311008FDE2}"/>
              </a:ext>
            </a:extLst>
          </p:cNvPr>
          <p:cNvSpPr>
            <a:spLocks xmlns:a="http://schemas.openxmlformats.org/drawingml/2006/main" noGrp="1"/>
          </p:cNvSpPr>
          <p:nvPr/>
        </p:nvSpPr>
        <p:spPr>
          <a:xfrm xmlns:a="http://schemas.openxmlformats.org/drawingml/2006/main">
            <a:off x="685800" y="11430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53653"/>
                </a:solidFill>
                <a:latin typeface="Inter"/>
                <a:ea typeface="Inter"/>
                <a:cs typeface="Inter"/>
              </a:defRPr>
            </a:pPr>
            <a:r>
              <a:rPr sz="1275" b="1">
                <a:solidFill>
                  <a:srgbClr val="253653"/>
                </a:solidFill>
                <a:latin typeface="Inter"/>
                <a:ea typeface="Inter"/>
                <a:cs typeface="Inter"/>
              </a:rPr>
              <a:t>Illustrative demo scenario</a:t>
            </a:r>
          </a:p>
        </p:txBody>
      </p:sp>
      <p:sp>
        <p:nvSpPr>
          <p:cNvPr id="3" name="">
            <a:extLst xmlns:a="http://schemas.openxmlformats.org/drawingml/2006/main">
              <a:ext uri="{FF2B5EF4-FFF2-40B4-BE49-F238E27FC236}">
                <a16:creationId xmlns:a16="http://schemas.microsoft.com/office/drawing/2014/main" id="{0611CB51-ABDF-4E51-A00C-8BBE0442EEE7}"/>
              </a:ext>
            </a:extLst>
          </p:cNvPr>
          <p:cNvSpPr>
            <a:spLocks xmlns:a="http://schemas.openxmlformats.org/drawingml/2006/main" noGrp="1"/>
          </p:cNvSpPr>
          <p:nvPr/>
        </p:nvSpPr>
        <p:spPr>
          <a:xfrm xmlns:a="http://schemas.openxmlformats.org/drawingml/2006/main">
            <a:off x="685800" y="1809750"/>
            <a:ext cx="200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91"/>
          </a:bodyPr>
          <a:lstStyle xmlns:a="http://schemas.openxmlformats.org/drawingml/2006/main"/>
          <a:p xmlns:a="http://schemas.openxmlformats.org/drawingml/2006/main">
            <a:pPr algn="l">
              <a:lnSpc>
                <a:spcPct val="100000"/>
              </a:lnSpc>
              <a:buNone/>
              <a:defRPr sz="7050" b="1">
                <a:solidFill>
                  <a:srgbClr val="111111"/>
                </a:solidFill>
                <a:latin typeface="Inter"/>
                <a:ea typeface="Inter"/>
                <a:cs typeface="Inter"/>
              </a:defRPr>
            </a:pPr>
            <a:r>
              <a:rPr sz="7050" b="1">
                <a:solidFill>
                  <a:srgbClr val="111111"/>
                </a:solidFill>
                <a:latin typeface="Inter"/>
                <a:ea typeface="Inter"/>
                <a:cs typeface="Inter"/>
              </a:rPr>
              <a:t>60</a:t>
            </a:r>
          </a:p>
        </p:txBody>
      </p:sp>
      <p:sp>
        <p:nvSpPr>
          <p:cNvPr id="4" name="">
            <a:extLst xmlns:a="http://schemas.openxmlformats.org/drawingml/2006/main">
              <a:ext uri="{FF2B5EF4-FFF2-40B4-BE49-F238E27FC236}">
                <a16:creationId xmlns:a16="http://schemas.microsoft.com/office/drawing/2014/main" id="{3B31D65B-CE00-46AE-9E22-850B13F29352}"/>
              </a:ext>
            </a:extLst>
          </p:cNvPr>
          <p:cNvSpPr>
            <a:spLocks xmlns:a="http://schemas.openxmlformats.org/drawingml/2006/main" noGrp="1"/>
          </p:cNvSpPr>
          <p:nvPr/>
        </p:nvSpPr>
        <p:spPr>
          <a:xfrm xmlns:a="http://schemas.openxmlformats.org/drawingml/2006/main">
            <a:off x="714375" y="28575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111111"/>
                </a:solidFill>
                <a:latin typeface="Inter"/>
                <a:ea typeface="Inter"/>
                <a:cs typeface="Inter"/>
              </a:defRPr>
            </a:pPr>
            <a:r>
              <a:rPr sz="1500" b="0">
                <a:solidFill>
                  <a:srgbClr val="111111"/>
                </a:solidFill>
                <a:latin typeface="Inter"/>
                <a:ea typeface="Inter"/>
                <a:cs typeface="Inter"/>
              </a:rPr>
              <a:t>minutes entered</a:t>
            </a:r>
          </a:p>
        </p:txBody>
      </p:sp>
      <p:sp>
        <p:nvSpPr>
          <p:cNvPr id="5" name="">
            <a:extLst xmlns:a="http://schemas.openxmlformats.org/drawingml/2006/main">
              <a:ext uri="{FF2B5EF4-FFF2-40B4-BE49-F238E27FC236}">
                <a16:creationId xmlns:a16="http://schemas.microsoft.com/office/drawing/2014/main" id="{D6040C15-9EF5-48BE-99F3-E74FCA968F14}"/>
              </a:ext>
            </a:extLst>
          </p:cNvPr>
          <p:cNvSpPr>
            <a:spLocks xmlns:a="http://schemas.openxmlformats.org/drawingml/2006/main" noGrp="1"/>
          </p:cNvSpPr>
          <p:nvPr/>
        </p:nvSpPr>
        <p:spPr>
          <a:xfrm xmlns:a="http://schemas.openxmlformats.org/drawingml/2006/main">
            <a:off x="685800" y="3409950"/>
            <a:ext cx="3190875" cy="38100"/>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E614356-FA0C-421E-9824-63535563EBF0}"/>
              </a:ext>
            </a:extLst>
          </p:cNvPr>
          <p:cNvSpPr>
            <a:spLocks xmlns:a="http://schemas.openxmlformats.org/drawingml/2006/main" noGrp="1"/>
          </p:cNvSpPr>
          <p:nvPr/>
        </p:nvSpPr>
        <p:spPr>
          <a:xfrm xmlns:a="http://schemas.openxmlformats.org/drawingml/2006/main">
            <a:off x="685800" y="3638550"/>
            <a:ext cx="200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91"/>
          </a:bodyPr>
          <a:lstStyle xmlns:a="http://schemas.openxmlformats.org/drawingml/2006/main"/>
          <a:p xmlns:a="http://schemas.openxmlformats.org/drawingml/2006/main">
            <a:pPr algn="l">
              <a:lnSpc>
                <a:spcPct val="100000"/>
              </a:lnSpc>
              <a:buNone/>
              <a:defRPr sz="7050" b="1">
                <a:solidFill>
                  <a:srgbClr val="253653"/>
                </a:solidFill>
                <a:latin typeface="Inter"/>
                <a:ea typeface="Inter"/>
                <a:cs typeface="Inter"/>
              </a:defRPr>
            </a:pPr>
            <a:r>
              <a:rPr sz="7050" b="1">
                <a:solidFill>
                  <a:srgbClr val="253653"/>
                </a:solidFill>
                <a:latin typeface="Inter"/>
                <a:ea typeface="Inter"/>
                <a:cs typeface="Inter"/>
              </a:rPr>
              <a:t>95</a:t>
            </a:r>
          </a:p>
        </p:txBody>
      </p:sp>
      <p:sp>
        <p:nvSpPr>
          <p:cNvPr id="7" name="">
            <a:extLst xmlns:a="http://schemas.openxmlformats.org/drawingml/2006/main">
              <a:ext uri="{FF2B5EF4-FFF2-40B4-BE49-F238E27FC236}">
                <a16:creationId xmlns:a16="http://schemas.microsoft.com/office/drawing/2014/main" id="{2384FAAA-591E-4745-B5E4-FDCDC59D9F68}"/>
              </a:ext>
            </a:extLst>
          </p:cNvPr>
          <p:cNvSpPr>
            <a:spLocks xmlns:a="http://schemas.openxmlformats.org/drawingml/2006/main" noGrp="1"/>
          </p:cNvSpPr>
          <p:nvPr/>
        </p:nvSpPr>
        <p:spPr>
          <a:xfrm xmlns:a="http://schemas.openxmlformats.org/drawingml/2006/main">
            <a:off x="714375" y="46863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111111"/>
                </a:solidFill>
                <a:latin typeface="Inter"/>
                <a:ea typeface="Inter"/>
                <a:cs typeface="Inter"/>
              </a:defRPr>
            </a:pPr>
            <a:r>
              <a:rPr sz="1500" b="0">
                <a:solidFill>
                  <a:srgbClr val="111111"/>
                </a:solidFill>
                <a:latin typeface="Inter"/>
                <a:ea typeface="Inter"/>
                <a:cs typeface="Inter"/>
              </a:rPr>
              <a:t>minutes predicted</a:t>
            </a:r>
          </a:p>
        </p:txBody>
      </p:sp>
      <p:sp>
        <p:nvSpPr>
          <p:cNvPr id="8" name="">
            <a:extLst xmlns:a="http://schemas.openxmlformats.org/drawingml/2006/main">
              <a:ext uri="{FF2B5EF4-FFF2-40B4-BE49-F238E27FC236}">
                <a16:creationId xmlns:a16="http://schemas.microsoft.com/office/drawing/2014/main" id="{024FF87D-D705-45CB-88D7-3A1D5B8E100C}"/>
              </a:ext>
            </a:extLst>
          </p:cNvPr>
          <p:cNvSpPr>
            <a:spLocks xmlns:a="http://schemas.openxmlformats.org/drawingml/2006/main" noGrp="1"/>
          </p:cNvSpPr>
          <p:nvPr/>
        </p:nvSpPr>
        <p:spPr>
          <a:xfrm xmlns:a="http://schemas.openxmlformats.org/drawingml/2006/main">
            <a:off x="685800" y="5238750"/>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11111"/>
                </a:solidFill>
                <a:latin typeface="Inter"/>
                <a:ea typeface="Inter"/>
                <a:cs typeface="Inter"/>
              </a:defRPr>
            </a:pPr>
            <a:r>
              <a:rPr sz="1425" b="0">
                <a:solidFill>
                  <a:srgbClr val="111111"/>
                </a:solidFill>
                <a:latin typeface="Inter"/>
                <a:ea typeface="Inter"/>
                <a:cs typeface="Inter"/>
              </a:rPr>
              <a:t>The explanation cites the user’s report writing history and the selected time period.</a:t>
            </a:r>
          </a:p>
        </p:txBody>
      </p:sp>
      <p:sp>
        <p:nvSpPr>
          <p:cNvPr id="9" name="">
            <a:extLst xmlns:a="http://schemas.openxmlformats.org/drawingml/2006/main">
              <a:ext uri="{FF2B5EF4-FFF2-40B4-BE49-F238E27FC236}">
                <a16:creationId xmlns:a16="http://schemas.microsoft.com/office/drawing/2014/main" id="{ABB6DE76-2ACD-494A-8BD9-961FF46F1673}"/>
              </a:ext>
            </a:extLst>
          </p:cNvPr>
          <p:cNvSpPr>
            <a:spLocks xmlns:a="http://schemas.openxmlformats.org/drawingml/2006/main" noGrp="1"/>
          </p:cNvSpPr>
          <p:nvPr/>
        </p:nvSpPr>
        <p:spPr>
          <a:xfrm xmlns:a="http://schemas.openxmlformats.org/drawingml/2006/main">
            <a:off x="4762500" y="1714500"/>
            <a:ext cx="6743700" cy="4171950"/>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3B93057-5C4D-4DCC-BD7B-A24B3555F536}"/>
              </a:ext>
            </a:extLst>
          </p:cNvPr>
          <p:cNvSpPr>
            <a:spLocks xmlns:a="http://schemas.openxmlformats.org/drawingml/2006/main" noGrp="1"/>
          </p:cNvSpPr>
          <p:nvPr/>
        </p:nvSpPr>
        <p:spPr>
          <a:xfrm xmlns:a="http://schemas.openxmlformats.org/drawingml/2006/main">
            <a:off x="5162550" y="20764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FFFFF"/>
                </a:solidFill>
                <a:latin typeface="Inter"/>
                <a:ea typeface="Inter"/>
                <a:cs typeface="Inter"/>
              </a:defRPr>
            </a:pPr>
            <a:r>
              <a:rPr sz="1500" b="1">
                <a:solidFill>
                  <a:srgbClr val="FFFFFF"/>
                </a:solidFill>
                <a:latin typeface="Inter"/>
                <a:ea typeface="Inter"/>
                <a:cs typeface="Inter"/>
              </a:rPr>
              <a:t>LIVE DEMO</a:t>
            </a:r>
          </a:p>
        </p:txBody>
      </p:sp>
      <p:sp>
        <p:nvSpPr>
          <p:cNvPr id="11" name="">
            <a:extLst xmlns:a="http://schemas.openxmlformats.org/drawingml/2006/main">
              <a:ext uri="{FF2B5EF4-FFF2-40B4-BE49-F238E27FC236}">
                <a16:creationId xmlns:a16="http://schemas.microsoft.com/office/drawing/2014/main" id="{5747B99B-6448-4771-A93B-2BDC7DDD038E}"/>
              </a:ext>
            </a:extLst>
          </p:cNvPr>
          <p:cNvSpPr>
            <a:spLocks xmlns:a="http://schemas.openxmlformats.org/drawingml/2006/main" noGrp="1"/>
          </p:cNvSpPr>
          <p:nvPr/>
        </p:nvSpPr>
        <p:spPr>
          <a:xfrm xmlns:a="http://schemas.openxmlformats.org/drawingml/2006/main">
            <a:off x="9525000" y="20955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0">
                <a:solidFill>
                  <a:srgbClr val="FFFFFF"/>
                </a:solidFill>
                <a:latin typeface="Inter"/>
                <a:ea typeface="Inter"/>
                <a:cs typeface="Inter"/>
              </a:defRPr>
            </a:pPr>
            <a:r>
              <a:rPr sz="1200" b="0">
                <a:solidFill>
                  <a:srgbClr val="FFFFFF"/>
                </a:solidFill>
                <a:latin typeface="Inter"/>
                <a:ea typeface="Inter"/>
                <a:cs typeface="Inter"/>
              </a:rPr>
              <a:t>45 seconds</a:t>
            </a:r>
          </a:p>
        </p:txBody>
      </p:sp>
      <p:sp>
        <p:nvSpPr>
          <p:cNvPr id="12" name="">
            <a:extLst xmlns:a="http://schemas.openxmlformats.org/drawingml/2006/main">
              <a:ext uri="{FF2B5EF4-FFF2-40B4-BE49-F238E27FC236}">
                <a16:creationId xmlns:a16="http://schemas.microsoft.com/office/drawing/2014/main" id="{A07FC918-15DB-4F7B-BFD3-8090789CA1DA}"/>
              </a:ext>
            </a:extLst>
          </p:cNvPr>
          <p:cNvSpPr>
            <a:spLocks xmlns:a="http://schemas.openxmlformats.org/drawingml/2006/main" noGrp="1"/>
          </p:cNvSpPr>
          <p:nvPr/>
        </p:nvSpPr>
        <p:spPr>
          <a:xfrm xmlns:a="http://schemas.openxmlformats.org/drawingml/2006/main">
            <a:off x="5162550" y="27051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01</a:t>
            </a:r>
          </a:p>
        </p:txBody>
      </p:sp>
      <p:sp>
        <p:nvSpPr>
          <p:cNvPr id="13" name="">
            <a:extLst xmlns:a="http://schemas.openxmlformats.org/drawingml/2006/main">
              <a:ext uri="{FF2B5EF4-FFF2-40B4-BE49-F238E27FC236}">
                <a16:creationId xmlns:a16="http://schemas.microsoft.com/office/drawing/2014/main" id="{52916053-AC59-4F1C-8509-59E417B96212}"/>
              </a:ext>
            </a:extLst>
          </p:cNvPr>
          <p:cNvSpPr>
            <a:spLocks xmlns:a="http://schemas.openxmlformats.org/drawingml/2006/main" noGrp="1"/>
          </p:cNvSpPr>
          <p:nvPr/>
        </p:nvSpPr>
        <p:spPr>
          <a:xfrm xmlns:a="http://schemas.openxmlformats.org/drawingml/2006/main">
            <a:off x="5810250" y="2686050"/>
            <a:ext cx="5095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a:solidFill>
                  <a:srgbClr val="FFFFFF"/>
                </a:solidFill>
                <a:latin typeface="Inter"/>
                <a:ea typeface="Inter"/>
                <a:cs typeface="Inter"/>
              </a:defRPr>
            </a:pPr>
            <a:r>
              <a:rPr sz="1575" b="0">
                <a:solidFill>
                  <a:srgbClr val="FFFFFF"/>
                </a:solidFill>
                <a:latin typeface="Inter"/>
                <a:ea typeface="Inter"/>
                <a:cs typeface="Inter"/>
              </a:rPr>
              <a:t>Add “Project report” with a 60 minute estimate</a:t>
            </a:r>
          </a:p>
        </p:txBody>
      </p:sp>
      <p:sp>
        <p:nvSpPr>
          <p:cNvPr id="14" name="">
            <a:extLst xmlns:a="http://schemas.openxmlformats.org/drawingml/2006/main">
              <a:ext uri="{FF2B5EF4-FFF2-40B4-BE49-F238E27FC236}">
                <a16:creationId xmlns:a16="http://schemas.microsoft.com/office/drawing/2014/main" id="{47E44183-3D94-430F-AEAA-7972CE040BC5}"/>
              </a:ext>
            </a:extLst>
          </p:cNvPr>
          <p:cNvSpPr>
            <a:spLocks xmlns:a="http://schemas.openxmlformats.org/drawingml/2006/main" noGrp="1"/>
          </p:cNvSpPr>
          <p:nvPr/>
        </p:nvSpPr>
        <p:spPr>
          <a:xfrm xmlns:a="http://schemas.openxmlformats.org/drawingml/2006/main">
            <a:off x="5162550" y="324802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02</a:t>
            </a:r>
          </a:p>
        </p:txBody>
      </p:sp>
      <p:sp>
        <p:nvSpPr>
          <p:cNvPr id="15" name="">
            <a:extLst xmlns:a="http://schemas.openxmlformats.org/drawingml/2006/main">
              <a:ext uri="{FF2B5EF4-FFF2-40B4-BE49-F238E27FC236}">
                <a16:creationId xmlns:a16="http://schemas.microsoft.com/office/drawing/2014/main" id="{6B0C4245-B6F8-41AC-A8FB-B617E7BFA86A}"/>
              </a:ext>
            </a:extLst>
          </p:cNvPr>
          <p:cNvSpPr>
            <a:spLocks xmlns:a="http://schemas.openxmlformats.org/drawingml/2006/main" noGrp="1"/>
          </p:cNvSpPr>
          <p:nvPr/>
        </p:nvSpPr>
        <p:spPr>
          <a:xfrm xmlns:a="http://schemas.openxmlformats.org/drawingml/2006/main">
            <a:off x="5810250" y="3228975"/>
            <a:ext cx="5095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a:solidFill>
                  <a:srgbClr val="FFFFFF"/>
                </a:solidFill>
                <a:latin typeface="Inter"/>
                <a:ea typeface="Inter"/>
                <a:cs typeface="Inter"/>
              </a:defRPr>
            </a:pPr>
            <a:r>
              <a:rPr sz="1575" b="0">
                <a:solidFill>
                  <a:srgbClr val="FFFFFF"/>
                </a:solidFill>
                <a:latin typeface="Inter"/>
                <a:ea typeface="Inter"/>
                <a:cs typeface="Inter"/>
              </a:rPr>
              <a:t>Read the 95 minute prediction and explanation</a:t>
            </a:r>
          </a:p>
        </p:txBody>
      </p:sp>
      <p:sp>
        <p:nvSpPr>
          <p:cNvPr id="16" name="">
            <a:extLst xmlns:a="http://schemas.openxmlformats.org/drawingml/2006/main">
              <a:ext uri="{FF2B5EF4-FFF2-40B4-BE49-F238E27FC236}">
                <a16:creationId xmlns:a16="http://schemas.microsoft.com/office/drawing/2014/main" id="{B45E9FF9-761C-4BCB-AB92-52CC095DE726}"/>
              </a:ext>
            </a:extLst>
          </p:cNvPr>
          <p:cNvSpPr>
            <a:spLocks xmlns:a="http://schemas.openxmlformats.org/drawingml/2006/main" noGrp="1"/>
          </p:cNvSpPr>
          <p:nvPr/>
        </p:nvSpPr>
        <p:spPr>
          <a:xfrm xmlns:a="http://schemas.openxmlformats.org/drawingml/2006/main">
            <a:off x="5162550" y="37909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03</a:t>
            </a:r>
          </a:p>
        </p:txBody>
      </p:sp>
      <p:sp>
        <p:nvSpPr>
          <p:cNvPr id="17" name="">
            <a:extLst xmlns:a="http://schemas.openxmlformats.org/drawingml/2006/main">
              <a:ext uri="{FF2B5EF4-FFF2-40B4-BE49-F238E27FC236}">
                <a16:creationId xmlns:a16="http://schemas.microsoft.com/office/drawing/2014/main" id="{199A725F-0F62-449F-8343-0AC9DF377753}"/>
              </a:ext>
            </a:extLst>
          </p:cNvPr>
          <p:cNvSpPr>
            <a:spLocks xmlns:a="http://schemas.openxmlformats.org/drawingml/2006/main" noGrp="1"/>
          </p:cNvSpPr>
          <p:nvPr/>
        </p:nvSpPr>
        <p:spPr>
          <a:xfrm xmlns:a="http://schemas.openxmlformats.org/drawingml/2006/main">
            <a:off x="5810250" y="3771900"/>
            <a:ext cx="5095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a:solidFill>
                  <a:srgbClr val="FFFFFF"/>
                </a:solidFill>
                <a:latin typeface="Inter"/>
                <a:ea typeface="Inter"/>
                <a:cs typeface="Inter"/>
              </a:defRPr>
            </a:pPr>
            <a:r>
              <a:rPr sz="1575" b="0">
                <a:solidFill>
                  <a:srgbClr val="FFFFFF"/>
                </a:solidFill>
                <a:latin typeface="Inter"/>
                <a:ea typeface="Inter"/>
                <a:cs typeface="Inter"/>
              </a:rPr>
              <a:t>Generate today’s schedule</a:t>
            </a:r>
          </a:p>
        </p:txBody>
      </p:sp>
      <p:sp>
        <p:nvSpPr>
          <p:cNvPr id="18" name="">
            <a:extLst xmlns:a="http://schemas.openxmlformats.org/drawingml/2006/main">
              <a:ext uri="{FF2B5EF4-FFF2-40B4-BE49-F238E27FC236}">
                <a16:creationId xmlns:a16="http://schemas.microsoft.com/office/drawing/2014/main" id="{C4ACC792-1B9E-4747-AD61-B30F2DFD4B6B}"/>
              </a:ext>
            </a:extLst>
          </p:cNvPr>
          <p:cNvSpPr>
            <a:spLocks xmlns:a="http://schemas.openxmlformats.org/drawingml/2006/main" noGrp="1"/>
          </p:cNvSpPr>
          <p:nvPr/>
        </p:nvSpPr>
        <p:spPr>
          <a:xfrm xmlns:a="http://schemas.openxmlformats.org/drawingml/2006/main">
            <a:off x="5162550" y="433387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04</a:t>
            </a:r>
          </a:p>
        </p:txBody>
      </p:sp>
      <p:sp>
        <p:nvSpPr>
          <p:cNvPr id="19" name="">
            <a:extLst xmlns:a="http://schemas.openxmlformats.org/drawingml/2006/main">
              <a:ext uri="{FF2B5EF4-FFF2-40B4-BE49-F238E27FC236}">
                <a16:creationId xmlns:a16="http://schemas.microsoft.com/office/drawing/2014/main" id="{45ABDB13-9B61-46F1-A6FB-08CFCDDBC2E7}"/>
              </a:ext>
            </a:extLst>
          </p:cNvPr>
          <p:cNvSpPr>
            <a:spLocks xmlns:a="http://schemas.openxmlformats.org/drawingml/2006/main" noGrp="1"/>
          </p:cNvSpPr>
          <p:nvPr/>
        </p:nvSpPr>
        <p:spPr>
          <a:xfrm xmlns:a="http://schemas.openxmlformats.org/drawingml/2006/main">
            <a:off x="5810250" y="4314825"/>
            <a:ext cx="5095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a:solidFill>
                  <a:srgbClr val="FFFFFF"/>
                </a:solidFill>
                <a:latin typeface="Inter"/>
                <a:ea typeface="Inter"/>
                <a:cs typeface="Inter"/>
              </a:defRPr>
            </a:pPr>
            <a:r>
              <a:rPr sz="1575" b="0">
                <a:solidFill>
                  <a:srgbClr val="FFFFFF"/>
                </a:solidFill>
                <a:latin typeface="Inter"/>
                <a:ea typeface="Inter"/>
                <a:cs typeface="Inter"/>
              </a:rPr>
              <a:t>Log a 35 minute delay</a:t>
            </a:r>
          </a:p>
        </p:txBody>
      </p:sp>
      <p:sp>
        <p:nvSpPr>
          <p:cNvPr id="20" name="">
            <a:extLst xmlns:a="http://schemas.openxmlformats.org/drawingml/2006/main">
              <a:ext uri="{FF2B5EF4-FFF2-40B4-BE49-F238E27FC236}">
                <a16:creationId xmlns:a16="http://schemas.microsoft.com/office/drawing/2014/main" id="{79BADCBD-6C08-40C0-866A-9B4372E22EB7}"/>
              </a:ext>
            </a:extLst>
          </p:cNvPr>
          <p:cNvSpPr>
            <a:spLocks xmlns:a="http://schemas.openxmlformats.org/drawingml/2006/main" noGrp="1"/>
          </p:cNvSpPr>
          <p:nvPr/>
        </p:nvSpPr>
        <p:spPr>
          <a:xfrm xmlns:a="http://schemas.openxmlformats.org/drawingml/2006/main">
            <a:off x="5162550" y="487680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05</a:t>
            </a:r>
          </a:p>
        </p:txBody>
      </p:sp>
      <p:sp>
        <p:nvSpPr>
          <p:cNvPr id="21" name="">
            <a:extLst xmlns:a="http://schemas.openxmlformats.org/drawingml/2006/main">
              <a:ext uri="{FF2B5EF4-FFF2-40B4-BE49-F238E27FC236}">
                <a16:creationId xmlns:a16="http://schemas.microsoft.com/office/drawing/2014/main" id="{5F95471C-6449-455A-BD97-CD30809EC5ED}"/>
              </a:ext>
            </a:extLst>
          </p:cNvPr>
          <p:cNvSpPr>
            <a:spLocks xmlns:a="http://schemas.openxmlformats.org/drawingml/2006/main" noGrp="1"/>
          </p:cNvSpPr>
          <p:nvPr/>
        </p:nvSpPr>
        <p:spPr>
          <a:xfrm xmlns:a="http://schemas.openxmlformats.org/drawingml/2006/main">
            <a:off x="5810250" y="4857750"/>
            <a:ext cx="5095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a:solidFill>
                  <a:srgbClr val="FFFFFF"/>
                </a:solidFill>
                <a:latin typeface="Inter"/>
                <a:ea typeface="Inter"/>
                <a:cs typeface="Inter"/>
              </a:defRPr>
            </a:pPr>
            <a:r>
              <a:rPr sz="1575" b="0">
                <a:solidFill>
                  <a:srgbClr val="FFFFFF"/>
                </a:solidFill>
                <a:latin typeface="Inter"/>
                <a:ea typeface="Inter"/>
                <a:cs typeface="Inter"/>
              </a:rPr>
              <a:t>Watch the remaining tasks move</a:t>
            </a:r>
          </a:p>
        </p:txBody>
      </p:sp>
      <p:sp>
        <p:nvSpPr>
          <p:cNvPr id="22" name="">
            <a:extLst xmlns:a="http://schemas.openxmlformats.org/drawingml/2006/main">
              <a:ext uri="{FF2B5EF4-FFF2-40B4-BE49-F238E27FC236}">
                <a16:creationId xmlns:a16="http://schemas.microsoft.com/office/drawing/2014/main" id="{800D007D-4BF4-42D7-98A6-442CFBC01175}"/>
              </a:ext>
            </a:extLst>
          </p:cNvPr>
          <p:cNvSpPr>
            <a:spLocks xmlns:a="http://schemas.openxmlformats.org/drawingml/2006/main" noGrp="1"/>
          </p:cNvSpPr>
          <p:nvPr/>
        </p:nvSpPr>
        <p:spPr>
          <a:xfrm xmlns:a="http://schemas.openxmlformats.org/drawingml/2006/main">
            <a:off x="11382375" y="62388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253653"/>
                </a:solidFill>
                <a:latin typeface="Inter"/>
                <a:ea typeface="Inter"/>
                <a:cs typeface="Inter"/>
              </a:defRPr>
            </a:pPr>
            <a:r>
              <a:rPr sz="1050" b="1">
                <a:solidFill>
                  <a:srgbClr val="253653"/>
                </a:solidFill>
                <a:latin typeface="Inter"/>
                <a:ea typeface="Inter"/>
                <a:cs typeface="Inter"/>
              </a:rPr>
              <a:t>04</a:t>
            </a:r>
          </a:p>
        </p:txBody>
      </p:sp>
    </p:spTree>
    <p:extLst>
      <p:ext uri="{BB962C8B-B14F-4D97-AF65-F5344CB8AC3E}">
        <p14:creationId xmlns:p14="http://schemas.microsoft.com/office/powerpoint/2010/main" val="19917145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EC9F0D3-0518-4D93-8D25-7954CAADAECF}"/>
              </a:ext>
            </a:extLst>
          </p:cNvPr>
          <p:cNvSpPr>
            <a:spLocks xmlns:a="http://schemas.openxmlformats.org/drawingml/2006/main" noGrp="1"/>
          </p:cNvSpPr>
          <p:nvPr/>
        </p:nvSpPr>
        <p:spPr>
          <a:xfrm xmlns:a="http://schemas.openxmlformats.org/drawingml/2006/main">
            <a:off x="685800" y="514350"/>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111"/>
                </a:solidFill>
                <a:latin typeface="Inter"/>
                <a:ea typeface="Inter"/>
                <a:cs typeface="Inter"/>
              </a:defRPr>
            </a:pPr>
            <a:r>
              <a:rPr sz="3300" b="1">
                <a:solidFill>
                  <a:srgbClr val="111111"/>
                </a:solidFill>
                <a:latin typeface="Inter"/>
                <a:ea typeface="Inter"/>
                <a:cs typeface="Inter"/>
              </a:rPr>
              <a:t>One codebase keeps the proof reliable</a:t>
            </a:r>
          </a:p>
        </p:txBody>
      </p:sp>
      <p:sp>
        <p:nvSpPr>
          <p:cNvPr id="2" name="">
            <a:extLst xmlns:a="http://schemas.openxmlformats.org/drawingml/2006/main">
              <a:ext uri="{FF2B5EF4-FFF2-40B4-BE49-F238E27FC236}">
                <a16:creationId xmlns:a16="http://schemas.microsoft.com/office/drawing/2014/main" id="{ADCEAFA6-D960-4808-A519-D453BA78D89F}"/>
              </a:ext>
            </a:extLst>
          </p:cNvPr>
          <p:cNvSpPr>
            <a:spLocks xmlns:a="http://schemas.openxmlformats.org/drawingml/2006/main" noGrp="1"/>
          </p:cNvSpPr>
          <p:nvPr/>
        </p:nvSpPr>
        <p:spPr>
          <a:xfrm xmlns:a="http://schemas.openxmlformats.org/drawingml/2006/main">
            <a:off x="685800" y="1466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53653"/>
                </a:solidFill>
                <a:latin typeface="Inter"/>
                <a:ea typeface="Inter"/>
                <a:cs typeface="Inter"/>
              </a:defRPr>
            </a:pPr>
            <a:r>
              <a:rPr sz="1275" b="1">
                <a:solidFill>
                  <a:srgbClr val="253653"/>
                </a:solidFill>
                <a:latin typeface="Inter"/>
                <a:ea typeface="Inter"/>
                <a:cs typeface="Inter"/>
              </a:rPr>
              <a:t>LOCAL ARCHITECTURE</a:t>
            </a:r>
          </a:p>
        </p:txBody>
      </p:sp>
      <p:sp>
        <p:nvSpPr>
          <p:cNvPr id="3" name="">
            <a:extLst xmlns:a="http://schemas.openxmlformats.org/drawingml/2006/main">
              <a:ext uri="{FF2B5EF4-FFF2-40B4-BE49-F238E27FC236}">
                <a16:creationId xmlns:a16="http://schemas.microsoft.com/office/drawing/2014/main" id="{DB82D476-2891-4AF3-B4A2-BEE904AB0E55}"/>
              </a:ext>
            </a:extLst>
          </p:cNvPr>
          <p:cNvSpPr>
            <a:spLocks xmlns:a="http://schemas.openxmlformats.org/drawingml/2006/main" noGrp="1"/>
          </p:cNvSpPr>
          <p:nvPr/>
        </p:nvSpPr>
        <p:spPr>
          <a:xfrm xmlns:a="http://schemas.openxmlformats.org/drawingml/2006/main">
            <a:off x="6858000" y="1466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53653"/>
                </a:solidFill>
                <a:latin typeface="Inter"/>
                <a:ea typeface="Inter"/>
                <a:cs typeface="Inter"/>
              </a:defRPr>
            </a:pPr>
            <a:r>
              <a:rPr sz="1275" b="1">
                <a:solidFill>
                  <a:srgbClr val="253653"/>
                </a:solidFill>
                <a:latin typeface="Inter"/>
                <a:ea typeface="Inter"/>
                <a:cs typeface="Inter"/>
              </a:rPr>
              <a:t>WHY THIS STACK</a:t>
            </a:r>
          </a:p>
        </p:txBody>
      </p:sp>
      <p:sp>
        <p:nvSpPr>
          <p:cNvPr id="4" name="">
            <a:extLst xmlns:a="http://schemas.openxmlformats.org/drawingml/2006/main">
              <a:ext uri="{FF2B5EF4-FFF2-40B4-BE49-F238E27FC236}">
                <a16:creationId xmlns:a16="http://schemas.microsoft.com/office/drawing/2014/main" id="{C72BABAE-FD49-4663-9F54-6CE0A679A424}"/>
              </a:ext>
            </a:extLst>
          </p:cNvPr>
          <p:cNvSpPr>
            <a:spLocks xmlns:a="http://schemas.openxmlformats.org/drawingml/2006/main" noGrp="1"/>
          </p:cNvSpPr>
          <p:nvPr/>
        </p:nvSpPr>
        <p:spPr>
          <a:xfrm xmlns:a="http://schemas.openxmlformats.org/drawingml/2006/main">
            <a:off x="952500" y="2028825"/>
            <a:ext cx="28575" cy="3143250"/>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27EA338-3BD3-469E-9723-007198E6A1AE}"/>
              </a:ext>
            </a:extLst>
          </p:cNvPr>
          <p:cNvSpPr>
            <a:spLocks xmlns:a="http://schemas.openxmlformats.org/drawingml/2006/main" noGrp="1"/>
          </p:cNvSpPr>
          <p:nvPr/>
        </p:nvSpPr>
        <p:spPr>
          <a:xfrm xmlns:a="http://schemas.openxmlformats.org/drawingml/2006/main">
            <a:off x="866775" y="2038350"/>
            <a:ext cx="190500" cy="190500"/>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243B0AC-0502-41CC-A1CC-F89AD130BFA9}"/>
              </a:ext>
            </a:extLst>
          </p:cNvPr>
          <p:cNvSpPr>
            <a:spLocks xmlns:a="http://schemas.openxmlformats.org/drawingml/2006/main" noGrp="1"/>
          </p:cNvSpPr>
          <p:nvPr/>
        </p:nvSpPr>
        <p:spPr>
          <a:xfrm xmlns:a="http://schemas.openxmlformats.org/drawingml/2006/main">
            <a:off x="1314450" y="19431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111"/>
                </a:solidFill>
                <a:latin typeface="Inter"/>
                <a:ea typeface="Inter"/>
                <a:cs typeface="Inter"/>
              </a:defRPr>
            </a:pPr>
            <a:r>
              <a:rPr sz="1875" b="1">
                <a:solidFill>
                  <a:srgbClr val="111111"/>
                </a:solidFill>
                <a:latin typeface="Inter"/>
                <a:ea typeface="Inter"/>
                <a:cs typeface="Inter"/>
              </a:rPr>
              <a:t>Next.js App Router</a:t>
            </a:r>
          </a:p>
        </p:txBody>
      </p:sp>
      <p:sp>
        <p:nvSpPr>
          <p:cNvPr id="7" name="">
            <a:extLst xmlns:a="http://schemas.openxmlformats.org/drawingml/2006/main">
              <a:ext uri="{FF2B5EF4-FFF2-40B4-BE49-F238E27FC236}">
                <a16:creationId xmlns:a16="http://schemas.microsoft.com/office/drawing/2014/main" id="{710E6614-A611-4EC3-9D28-728A3FADFC24}"/>
              </a:ext>
            </a:extLst>
          </p:cNvPr>
          <p:cNvSpPr>
            <a:spLocks xmlns:a="http://schemas.openxmlformats.org/drawingml/2006/main" noGrp="1"/>
          </p:cNvSpPr>
          <p:nvPr/>
        </p:nvSpPr>
        <p:spPr>
          <a:xfrm xmlns:a="http://schemas.openxmlformats.org/drawingml/2006/main">
            <a:off x="1314450" y="2314575"/>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253653"/>
                </a:solidFill>
                <a:latin typeface="Inter"/>
                <a:ea typeface="Inter"/>
                <a:cs typeface="Inter"/>
              </a:defRPr>
            </a:pPr>
            <a:r>
              <a:rPr sz="1350" b="0">
                <a:solidFill>
                  <a:srgbClr val="253653"/>
                </a:solidFill>
                <a:latin typeface="Inter"/>
                <a:ea typeface="Inter"/>
                <a:cs typeface="Inter"/>
              </a:rPr>
              <a:t>Interface and server logic</a:t>
            </a:r>
          </a:p>
        </p:txBody>
      </p:sp>
      <p:sp>
        <p:nvSpPr>
          <p:cNvPr id="8" name="">
            <a:extLst xmlns:a="http://schemas.openxmlformats.org/drawingml/2006/main">
              <a:ext uri="{FF2B5EF4-FFF2-40B4-BE49-F238E27FC236}">
                <a16:creationId xmlns:a16="http://schemas.microsoft.com/office/drawing/2014/main" id="{CD04A438-E505-46E3-8961-6F9F06BE3249}"/>
              </a:ext>
            </a:extLst>
          </p:cNvPr>
          <p:cNvSpPr>
            <a:spLocks xmlns:a="http://schemas.openxmlformats.org/drawingml/2006/main" noGrp="1"/>
          </p:cNvSpPr>
          <p:nvPr/>
        </p:nvSpPr>
        <p:spPr>
          <a:xfrm xmlns:a="http://schemas.openxmlformats.org/drawingml/2006/main">
            <a:off x="866775" y="2914650"/>
            <a:ext cx="190500" cy="190500"/>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BA4F716-8AA9-424D-9346-7486CEC3B117}"/>
              </a:ext>
            </a:extLst>
          </p:cNvPr>
          <p:cNvSpPr>
            <a:spLocks xmlns:a="http://schemas.openxmlformats.org/drawingml/2006/main" noGrp="1"/>
          </p:cNvSpPr>
          <p:nvPr/>
        </p:nvSpPr>
        <p:spPr>
          <a:xfrm xmlns:a="http://schemas.openxmlformats.org/drawingml/2006/main">
            <a:off x="1314450" y="28194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111"/>
                </a:solidFill>
                <a:latin typeface="Inter"/>
                <a:ea typeface="Inter"/>
                <a:cs typeface="Inter"/>
              </a:defRPr>
            </a:pPr>
            <a:r>
              <a:rPr sz="1875" b="1">
                <a:solidFill>
                  <a:srgbClr val="111111"/>
                </a:solidFill>
                <a:latin typeface="Inter"/>
                <a:ea typeface="Inter"/>
                <a:cs typeface="Inter"/>
              </a:rPr>
              <a:t>TypeScript services</a:t>
            </a:r>
          </a:p>
        </p:txBody>
      </p:sp>
      <p:sp>
        <p:nvSpPr>
          <p:cNvPr id="10" name="">
            <a:extLst xmlns:a="http://schemas.openxmlformats.org/drawingml/2006/main">
              <a:ext uri="{FF2B5EF4-FFF2-40B4-BE49-F238E27FC236}">
                <a16:creationId xmlns:a16="http://schemas.microsoft.com/office/drawing/2014/main" id="{8639349C-6B38-42F6-83D8-E5514AD8825C}"/>
              </a:ext>
            </a:extLst>
          </p:cNvPr>
          <p:cNvSpPr>
            <a:spLocks xmlns:a="http://schemas.openxmlformats.org/drawingml/2006/main" noGrp="1"/>
          </p:cNvSpPr>
          <p:nvPr/>
        </p:nvSpPr>
        <p:spPr>
          <a:xfrm xmlns:a="http://schemas.openxmlformats.org/drawingml/2006/main">
            <a:off x="1314450" y="3190875"/>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253653"/>
                </a:solidFill>
                <a:latin typeface="Inter"/>
                <a:ea typeface="Inter"/>
                <a:cs typeface="Inter"/>
              </a:defRPr>
            </a:pPr>
            <a:r>
              <a:rPr sz="1350" b="0">
                <a:solidFill>
                  <a:srgbClr val="253653"/>
                </a:solidFill>
                <a:latin typeface="Inter"/>
                <a:ea typeface="Inter"/>
                <a:cs typeface="Inter"/>
              </a:rPr>
              <a:t>Prediction and scheduling rules</a:t>
            </a:r>
          </a:p>
        </p:txBody>
      </p:sp>
      <p:sp>
        <p:nvSpPr>
          <p:cNvPr id="11" name="">
            <a:extLst xmlns:a="http://schemas.openxmlformats.org/drawingml/2006/main">
              <a:ext uri="{FF2B5EF4-FFF2-40B4-BE49-F238E27FC236}">
                <a16:creationId xmlns:a16="http://schemas.microsoft.com/office/drawing/2014/main" id="{D7942301-CD44-4982-923C-64543C04A810}"/>
              </a:ext>
            </a:extLst>
          </p:cNvPr>
          <p:cNvSpPr>
            <a:spLocks xmlns:a="http://schemas.openxmlformats.org/drawingml/2006/main" noGrp="1"/>
          </p:cNvSpPr>
          <p:nvPr/>
        </p:nvSpPr>
        <p:spPr>
          <a:xfrm xmlns:a="http://schemas.openxmlformats.org/drawingml/2006/main">
            <a:off x="866775" y="3790950"/>
            <a:ext cx="190500" cy="190500"/>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55B0802-4310-40B4-97F8-60B980D853EE}"/>
              </a:ext>
            </a:extLst>
          </p:cNvPr>
          <p:cNvSpPr>
            <a:spLocks xmlns:a="http://schemas.openxmlformats.org/drawingml/2006/main" noGrp="1"/>
          </p:cNvSpPr>
          <p:nvPr/>
        </p:nvSpPr>
        <p:spPr>
          <a:xfrm xmlns:a="http://schemas.openxmlformats.org/drawingml/2006/main">
            <a:off x="1314450" y="36957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111"/>
                </a:solidFill>
                <a:latin typeface="Inter"/>
                <a:ea typeface="Inter"/>
                <a:cs typeface="Inter"/>
              </a:defRPr>
            </a:pPr>
            <a:r>
              <a:rPr sz="1875" b="1">
                <a:solidFill>
                  <a:srgbClr val="111111"/>
                </a:solidFill>
                <a:latin typeface="Inter"/>
                <a:ea typeface="Inter"/>
                <a:cs typeface="Inter"/>
              </a:rPr>
              <a:t>Prisma</a:t>
            </a:r>
          </a:p>
        </p:txBody>
      </p:sp>
      <p:sp>
        <p:nvSpPr>
          <p:cNvPr id="13" name="">
            <a:extLst xmlns:a="http://schemas.openxmlformats.org/drawingml/2006/main">
              <a:ext uri="{FF2B5EF4-FFF2-40B4-BE49-F238E27FC236}">
                <a16:creationId xmlns:a16="http://schemas.microsoft.com/office/drawing/2014/main" id="{E575FEF7-AAEE-4485-A847-6B218A2549DB}"/>
              </a:ext>
            </a:extLst>
          </p:cNvPr>
          <p:cNvSpPr>
            <a:spLocks xmlns:a="http://schemas.openxmlformats.org/drawingml/2006/main" noGrp="1"/>
          </p:cNvSpPr>
          <p:nvPr/>
        </p:nvSpPr>
        <p:spPr>
          <a:xfrm xmlns:a="http://schemas.openxmlformats.org/drawingml/2006/main">
            <a:off x="1314450" y="4067175"/>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253653"/>
                </a:solidFill>
                <a:latin typeface="Inter"/>
                <a:ea typeface="Inter"/>
                <a:cs typeface="Inter"/>
              </a:defRPr>
            </a:pPr>
            <a:r>
              <a:rPr sz="1350" b="0">
                <a:solidFill>
                  <a:srgbClr val="253653"/>
                </a:solidFill>
                <a:latin typeface="Inter"/>
                <a:ea typeface="Inter"/>
                <a:cs typeface="Inter"/>
              </a:rPr>
              <a:t>Typed data access</a:t>
            </a:r>
          </a:p>
        </p:txBody>
      </p:sp>
      <p:sp>
        <p:nvSpPr>
          <p:cNvPr id="14" name="">
            <a:extLst xmlns:a="http://schemas.openxmlformats.org/drawingml/2006/main">
              <a:ext uri="{FF2B5EF4-FFF2-40B4-BE49-F238E27FC236}">
                <a16:creationId xmlns:a16="http://schemas.microsoft.com/office/drawing/2014/main" id="{C9E87BE7-C874-4E36-9C43-74BF6FF6ABD0}"/>
              </a:ext>
            </a:extLst>
          </p:cNvPr>
          <p:cNvSpPr>
            <a:spLocks xmlns:a="http://schemas.openxmlformats.org/drawingml/2006/main" noGrp="1"/>
          </p:cNvSpPr>
          <p:nvPr/>
        </p:nvSpPr>
        <p:spPr>
          <a:xfrm xmlns:a="http://schemas.openxmlformats.org/drawingml/2006/main">
            <a:off x="866775" y="4667250"/>
            <a:ext cx="190500" cy="190500"/>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70EA186-BBCC-4AA0-864B-8FF683B5A96C}"/>
              </a:ext>
            </a:extLst>
          </p:cNvPr>
          <p:cNvSpPr>
            <a:spLocks xmlns:a="http://schemas.openxmlformats.org/drawingml/2006/main" noGrp="1"/>
          </p:cNvSpPr>
          <p:nvPr/>
        </p:nvSpPr>
        <p:spPr>
          <a:xfrm xmlns:a="http://schemas.openxmlformats.org/drawingml/2006/main">
            <a:off x="1314450" y="45720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111"/>
                </a:solidFill>
                <a:latin typeface="Inter"/>
                <a:ea typeface="Inter"/>
                <a:cs typeface="Inter"/>
              </a:defRPr>
            </a:pPr>
            <a:r>
              <a:rPr sz="1875" b="1">
                <a:solidFill>
                  <a:srgbClr val="111111"/>
                </a:solidFill>
                <a:latin typeface="Inter"/>
                <a:ea typeface="Inter"/>
                <a:cs typeface="Inter"/>
              </a:rPr>
              <a:t>SQLite</a:t>
            </a:r>
          </a:p>
        </p:txBody>
      </p:sp>
      <p:sp>
        <p:nvSpPr>
          <p:cNvPr id="16" name="">
            <a:extLst xmlns:a="http://schemas.openxmlformats.org/drawingml/2006/main">
              <a:ext uri="{FF2B5EF4-FFF2-40B4-BE49-F238E27FC236}">
                <a16:creationId xmlns:a16="http://schemas.microsoft.com/office/drawing/2014/main" id="{8482C082-D534-4B54-90E6-0A9898C3AF0F}"/>
              </a:ext>
            </a:extLst>
          </p:cNvPr>
          <p:cNvSpPr>
            <a:spLocks xmlns:a="http://schemas.openxmlformats.org/drawingml/2006/main" noGrp="1"/>
          </p:cNvSpPr>
          <p:nvPr/>
        </p:nvSpPr>
        <p:spPr>
          <a:xfrm xmlns:a="http://schemas.openxmlformats.org/drawingml/2006/main">
            <a:off x="1314450" y="4943475"/>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253653"/>
                </a:solidFill>
                <a:latin typeface="Inter"/>
                <a:ea typeface="Inter"/>
                <a:cs typeface="Inter"/>
              </a:defRPr>
            </a:pPr>
            <a:r>
              <a:rPr sz="1350" b="0">
                <a:solidFill>
                  <a:srgbClr val="253653"/>
                </a:solidFill>
                <a:latin typeface="Inter"/>
                <a:ea typeface="Inter"/>
                <a:cs typeface="Inter"/>
              </a:rPr>
              <a:t>Local persistence</a:t>
            </a:r>
          </a:p>
        </p:txBody>
      </p:sp>
      <p:sp>
        <p:nvSpPr>
          <p:cNvPr id="17" name="">
            <a:extLst xmlns:a="http://schemas.openxmlformats.org/drawingml/2006/main">
              <a:ext uri="{FF2B5EF4-FFF2-40B4-BE49-F238E27FC236}">
                <a16:creationId xmlns:a16="http://schemas.microsoft.com/office/drawing/2014/main" id="{9897BEAC-3F76-4081-96E7-270A567AB4C8}"/>
              </a:ext>
            </a:extLst>
          </p:cNvPr>
          <p:cNvSpPr>
            <a:spLocks xmlns:a="http://schemas.openxmlformats.org/drawingml/2006/main" noGrp="1"/>
          </p:cNvSpPr>
          <p:nvPr/>
        </p:nvSpPr>
        <p:spPr>
          <a:xfrm xmlns:a="http://schemas.openxmlformats.org/drawingml/2006/main">
            <a:off x="6858000" y="19431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111"/>
                </a:solidFill>
                <a:latin typeface="Inter"/>
                <a:ea typeface="Inter"/>
                <a:cs typeface="Inter"/>
              </a:defRPr>
            </a:pPr>
            <a:r>
              <a:rPr sz="1575" b="1">
                <a:solidFill>
                  <a:srgbClr val="111111"/>
                </a:solidFill>
                <a:latin typeface="Inter"/>
                <a:ea typeface="Inter"/>
                <a:cs typeface="Inter"/>
              </a:rPr>
              <a:t>Next.js</a:t>
            </a:r>
          </a:p>
        </p:txBody>
      </p:sp>
      <p:sp>
        <p:nvSpPr>
          <p:cNvPr id="18" name="">
            <a:extLst xmlns:a="http://schemas.openxmlformats.org/drawingml/2006/main">
              <a:ext uri="{FF2B5EF4-FFF2-40B4-BE49-F238E27FC236}">
                <a16:creationId xmlns:a16="http://schemas.microsoft.com/office/drawing/2014/main" id="{386810E6-A0F6-472B-B04E-7A402120E676}"/>
              </a:ext>
            </a:extLst>
          </p:cNvPr>
          <p:cNvSpPr>
            <a:spLocks xmlns:a="http://schemas.openxmlformats.org/drawingml/2006/main" noGrp="1"/>
          </p:cNvSpPr>
          <p:nvPr/>
        </p:nvSpPr>
        <p:spPr>
          <a:xfrm xmlns:a="http://schemas.openxmlformats.org/drawingml/2006/main">
            <a:off x="8667750" y="1943100"/>
            <a:ext cx="2838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111111"/>
                </a:solidFill>
                <a:latin typeface="Inter"/>
                <a:ea typeface="Inter"/>
                <a:cs typeface="Inter"/>
              </a:defRPr>
            </a:pPr>
            <a:r>
              <a:rPr sz="1350" b="0">
                <a:solidFill>
                  <a:srgbClr val="111111"/>
                </a:solidFill>
                <a:latin typeface="Inter"/>
                <a:ea typeface="Inter"/>
                <a:cs typeface="Inter"/>
              </a:rPr>
              <a:t>runs the interface and data mutations in one project.</a:t>
            </a:r>
          </a:p>
        </p:txBody>
      </p:sp>
      <p:sp>
        <p:nvSpPr>
          <p:cNvPr id="19" name="">
            <a:extLst xmlns:a="http://schemas.openxmlformats.org/drawingml/2006/main">
              <a:ext uri="{FF2B5EF4-FFF2-40B4-BE49-F238E27FC236}">
                <a16:creationId xmlns:a16="http://schemas.microsoft.com/office/drawing/2014/main" id="{CE243F34-685B-4D67-B28A-761329F7010B}"/>
              </a:ext>
            </a:extLst>
          </p:cNvPr>
          <p:cNvSpPr>
            <a:spLocks xmlns:a="http://schemas.openxmlformats.org/drawingml/2006/main" noGrp="1"/>
          </p:cNvSpPr>
          <p:nvPr/>
        </p:nvSpPr>
        <p:spPr>
          <a:xfrm xmlns:a="http://schemas.openxmlformats.org/drawingml/2006/main">
            <a:off x="6858000" y="25812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111"/>
                </a:solidFill>
                <a:latin typeface="Inter"/>
                <a:ea typeface="Inter"/>
                <a:cs typeface="Inter"/>
              </a:defRPr>
            </a:pPr>
            <a:r>
              <a:rPr sz="1575" b="1">
                <a:solidFill>
                  <a:srgbClr val="111111"/>
                </a:solidFill>
                <a:latin typeface="Inter"/>
                <a:ea typeface="Inter"/>
                <a:cs typeface="Inter"/>
              </a:rPr>
              <a:t>TypeScript</a:t>
            </a:r>
          </a:p>
        </p:txBody>
      </p:sp>
      <p:sp>
        <p:nvSpPr>
          <p:cNvPr id="20" name="">
            <a:extLst xmlns:a="http://schemas.openxmlformats.org/drawingml/2006/main">
              <a:ext uri="{FF2B5EF4-FFF2-40B4-BE49-F238E27FC236}">
                <a16:creationId xmlns:a16="http://schemas.microsoft.com/office/drawing/2014/main" id="{0AD8E2AC-34B2-4514-BDB9-45F651B86C52}"/>
              </a:ext>
            </a:extLst>
          </p:cNvPr>
          <p:cNvSpPr>
            <a:spLocks xmlns:a="http://schemas.openxmlformats.org/drawingml/2006/main" noGrp="1"/>
          </p:cNvSpPr>
          <p:nvPr/>
        </p:nvSpPr>
        <p:spPr>
          <a:xfrm xmlns:a="http://schemas.openxmlformats.org/drawingml/2006/main">
            <a:off x="8667750" y="2581275"/>
            <a:ext cx="2838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111111"/>
                </a:solidFill>
                <a:latin typeface="Inter"/>
                <a:ea typeface="Inter"/>
                <a:cs typeface="Inter"/>
              </a:defRPr>
            </a:pPr>
            <a:r>
              <a:rPr sz="1350" b="0">
                <a:solidFill>
                  <a:srgbClr val="111111"/>
                </a:solidFill>
                <a:latin typeface="Inter"/>
                <a:ea typeface="Inter"/>
                <a:cs typeface="Inter"/>
              </a:rPr>
              <a:t>keeps the prediction and scheduling rules easy to test.</a:t>
            </a:r>
          </a:p>
        </p:txBody>
      </p:sp>
      <p:sp>
        <p:nvSpPr>
          <p:cNvPr id="21" name="">
            <a:extLst xmlns:a="http://schemas.openxmlformats.org/drawingml/2006/main">
              <a:ext uri="{FF2B5EF4-FFF2-40B4-BE49-F238E27FC236}">
                <a16:creationId xmlns:a16="http://schemas.microsoft.com/office/drawing/2014/main" id="{7D79F9E8-A2D1-4728-8A2D-76650297ECB0}"/>
              </a:ext>
            </a:extLst>
          </p:cNvPr>
          <p:cNvSpPr>
            <a:spLocks xmlns:a="http://schemas.openxmlformats.org/drawingml/2006/main" noGrp="1"/>
          </p:cNvSpPr>
          <p:nvPr/>
        </p:nvSpPr>
        <p:spPr>
          <a:xfrm xmlns:a="http://schemas.openxmlformats.org/drawingml/2006/main">
            <a:off x="6858000" y="32194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111"/>
                </a:solidFill>
                <a:latin typeface="Inter"/>
                <a:ea typeface="Inter"/>
                <a:cs typeface="Inter"/>
              </a:defRPr>
            </a:pPr>
            <a:r>
              <a:rPr sz="1575" b="1">
                <a:solidFill>
                  <a:srgbClr val="111111"/>
                </a:solidFill>
                <a:latin typeface="Inter"/>
                <a:ea typeface="Inter"/>
                <a:cs typeface="Inter"/>
              </a:rPr>
              <a:t>Prisma + SQLite</a:t>
            </a:r>
          </a:p>
        </p:txBody>
      </p:sp>
      <p:sp>
        <p:nvSpPr>
          <p:cNvPr id="22" name="">
            <a:extLst xmlns:a="http://schemas.openxmlformats.org/drawingml/2006/main">
              <a:ext uri="{FF2B5EF4-FFF2-40B4-BE49-F238E27FC236}">
                <a16:creationId xmlns:a16="http://schemas.microsoft.com/office/drawing/2014/main" id="{8E66965E-148A-4FBF-894F-DDC414CCD062}"/>
              </a:ext>
            </a:extLst>
          </p:cNvPr>
          <p:cNvSpPr>
            <a:spLocks xmlns:a="http://schemas.openxmlformats.org/drawingml/2006/main" noGrp="1"/>
          </p:cNvSpPr>
          <p:nvPr/>
        </p:nvSpPr>
        <p:spPr>
          <a:xfrm xmlns:a="http://schemas.openxmlformats.org/drawingml/2006/main">
            <a:off x="8667750" y="3219450"/>
            <a:ext cx="2838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111111"/>
                </a:solidFill>
                <a:latin typeface="Inter"/>
                <a:ea typeface="Inter"/>
                <a:cs typeface="Inter"/>
              </a:defRPr>
            </a:pPr>
            <a:r>
              <a:rPr sz="1350" b="0">
                <a:solidFill>
                  <a:srgbClr val="111111"/>
                </a:solidFill>
                <a:latin typeface="Inter"/>
                <a:ea typeface="Inter"/>
                <a:cs typeface="Inter"/>
              </a:rPr>
              <a:t>store proof data locally with almost no setup.</a:t>
            </a:r>
          </a:p>
        </p:txBody>
      </p:sp>
      <p:sp>
        <p:nvSpPr>
          <p:cNvPr id="23" name="">
            <a:extLst xmlns:a="http://schemas.openxmlformats.org/drawingml/2006/main">
              <a:ext uri="{FF2B5EF4-FFF2-40B4-BE49-F238E27FC236}">
                <a16:creationId xmlns:a16="http://schemas.microsoft.com/office/drawing/2014/main" id="{3A410702-A1EF-4700-8FC3-680E6E1BB760}"/>
              </a:ext>
            </a:extLst>
          </p:cNvPr>
          <p:cNvSpPr>
            <a:spLocks xmlns:a="http://schemas.openxmlformats.org/drawingml/2006/main" noGrp="1"/>
          </p:cNvSpPr>
          <p:nvPr/>
        </p:nvSpPr>
        <p:spPr>
          <a:xfrm xmlns:a="http://schemas.openxmlformats.org/drawingml/2006/main">
            <a:off x="6858000" y="38576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111"/>
                </a:solidFill>
                <a:latin typeface="Inter"/>
                <a:ea typeface="Inter"/>
                <a:cs typeface="Inter"/>
              </a:defRPr>
            </a:pPr>
            <a:r>
              <a:rPr sz="1575" b="1">
                <a:solidFill>
                  <a:srgbClr val="111111"/>
                </a:solidFill>
                <a:latin typeface="Inter"/>
                <a:ea typeface="Inter"/>
                <a:cs typeface="Inter"/>
              </a:rPr>
              <a:t>Tailwind CSS</a:t>
            </a:r>
          </a:p>
        </p:txBody>
      </p:sp>
      <p:sp>
        <p:nvSpPr>
          <p:cNvPr id="24" name="">
            <a:extLst xmlns:a="http://schemas.openxmlformats.org/drawingml/2006/main">
              <a:ext uri="{FF2B5EF4-FFF2-40B4-BE49-F238E27FC236}">
                <a16:creationId xmlns:a16="http://schemas.microsoft.com/office/drawing/2014/main" id="{5712EEC4-493D-489F-9229-5DCADE8E0FB1}"/>
              </a:ext>
            </a:extLst>
          </p:cNvPr>
          <p:cNvSpPr>
            <a:spLocks xmlns:a="http://schemas.openxmlformats.org/drawingml/2006/main" noGrp="1"/>
          </p:cNvSpPr>
          <p:nvPr/>
        </p:nvSpPr>
        <p:spPr>
          <a:xfrm xmlns:a="http://schemas.openxmlformats.org/drawingml/2006/main">
            <a:off x="8667750" y="3857625"/>
            <a:ext cx="2838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111111"/>
                </a:solidFill>
                <a:latin typeface="Inter"/>
                <a:ea typeface="Inter"/>
                <a:cs typeface="Inter"/>
              </a:defRPr>
            </a:pPr>
            <a:r>
              <a:rPr sz="1350" b="0">
                <a:solidFill>
                  <a:srgbClr val="111111"/>
                </a:solidFill>
                <a:latin typeface="Inter"/>
                <a:ea typeface="Inter"/>
                <a:cs typeface="Inter"/>
              </a:rPr>
              <a:t>supports a fast and consistent demo interface.</a:t>
            </a:r>
          </a:p>
        </p:txBody>
      </p:sp>
      <p:sp>
        <p:nvSpPr>
          <p:cNvPr id="25" name="">
            <a:extLst xmlns:a="http://schemas.openxmlformats.org/drawingml/2006/main">
              <a:ext uri="{FF2B5EF4-FFF2-40B4-BE49-F238E27FC236}">
                <a16:creationId xmlns:a16="http://schemas.microsoft.com/office/drawing/2014/main" id="{DFD14754-4901-4348-AD60-6FE2E90D4F48}"/>
              </a:ext>
            </a:extLst>
          </p:cNvPr>
          <p:cNvSpPr>
            <a:spLocks xmlns:a="http://schemas.openxmlformats.org/drawingml/2006/main" noGrp="1"/>
          </p:cNvSpPr>
          <p:nvPr/>
        </p:nvSpPr>
        <p:spPr>
          <a:xfrm xmlns:a="http://schemas.openxmlformats.org/drawingml/2006/main">
            <a:off x="6858000" y="44958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111"/>
                </a:solidFill>
                <a:latin typeface="Inter"/>
                <a:ea typeface="Inter"/>
                <a:cs typeface="Inter"/>
              </a:defRPr>
            </a:pPr>
            <a:r>
              <a:rPr sz="1575" b="1">
                <a:solidFill>
                  <a:srgbClr val="111111"/>
                </a:solidFill>
                <a:latin typeface="Inter"/>
                <a:ea typeface="Inter"/>
                <a:cs typeface="Inter"/>
              </a:rPr>
              <a:t>Vitest</a:t>
            </a:r>
          </a:p>
        </p:txBody>
      </p:sp>
      <p:sp>
        <p:nvSpPr>
          <p:cNvPr id="26" name="">
            <a:extLst xmlns:a="http://schemas.openxmlformats.org/drawingml/2006/main">
              <a:ext uri="{FF2B5EF4-FFF2-40B4-BE49-F238E27FC236}">
                <a16:creationId xmlns:a16="http://schemas.microsoft.com/office/drawing/2014/main" id="{7F3F4E3E-70DB-4A60-B708-94D2E78B35E0}"/>
              </a:ext>
            </a:extLst>
          </p:cNvPr>
          <p:cNvSpPr>
            <a:spLocks xmlns:a="http://schemas.openxmlformats.org/drawingml/2006/main" noGrp="1"/>
          </p:cNvSpPr>
          <p:nvPr/>
        </p:nvSpPr>
        <p:spPr>
          <a:xfrm xmlns:a="http://schemas.openxmlformats.org/drawingml/2006/main">
            <a:off x="8667750" y="4495800"/>
            <a:ext cx="2838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111111"/>
                </a:solidFill>
                <a:latin typeface="Inter"/>
                <a:ea typeface="Inter"/>
                <a:cs typeface="Inter"/>
              </a:defRPr>
            </a:pPr>
            <a:r>
              <a:rPr sz="1350" b="0">
                <a:solidFill>
                  <a:srgbClr val="111111"/>
                </a:solidFill>
                <a:latin typeface="Inter"/>
                <a:ea typeface="Inter"/>
                <a:cs typeface="Inter"/>
              </a:rPr>
              <a:t>protects the core calculation and rescheduling logic.</a:t>
            </a:r>
          </a:p>
        </p:txBody>
      </p:sp>
      <p:sp>
        <p:nvSpPr>
          <p:cNvPr id="27" name="">
            <a:extLst xmlns:a="http://schemas.openxmlformats.org/drawingml/2006/main">
              <a:ext uri="{FF2B5EF4-FFF2-40B4-BE49-F238E27FC236}">
                <a16:creationId xmlns:a16="http://schemas.microsoft.com/office/drawing/2014/main" id="{3BE247F0-5AE6-49BE-9D83-81283356CF3F}"/>
              </a:ext>
            </a:extLst>
          </p:cNvPr>
          <p:cNvSpPr>
            <a:spLocks xmlns:a="http://schemas.openxmlformats.org/drawingml/2006/main" noGrp="1"/>
          </p:cNvSpPr>
          <p:nvPr/>
        </p:nvSpPr>
        <p:spPr>
          <a:xfrm xmlns:a="http://schemas.openxmlformats.org/drawingml/2006/main">
            <a:off x="6858000" y="5324475"/>
            <a:ext cx="4648200" cy="19050"/>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811725B-3DFE-429C-B0DD-23F7D6983B9F}"/>
              </a:ext>
            </a:extLst>
          </p:cNvPr>
          <p:cNvSpPr>
            <a:spLocks xmlns:a="http://schemas.openxmlformats.org/drawingml/2006/main" noGrp="1"/>
          </p:cNvSpPr>
          <p:nvPr/>
        </p:nvSpPr>
        <p:spPr>
          <a:xfrm xmlns:a="http://schemas.openxmlformats.org/drawingml/2006/main">
            <a:off x="6858000" y="5514975"/>
            <a:ext cx="464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331"/>
          </a:bodyPr>
          <a:lstStyle xmlns:a="http://schemas.openxmlformats.org/drawingml/2006/main"/>
          <a:p xmlns:a="http://schemas.openxmlformats.org/drawingml/2006/main">
            <a:pPr algn="l">
              <a:lnSpc>
                <a:spcPct val="100000"/>
              </a:lnSpc>
              <a:buNone/>
              <a:defRPr sz="1575" b="1">
                <a:solidFill>
                  <a:srgbClr val="253653"/>
                </a:solidFill>
                <a:latin typeface="Inter"/>
                <a:ea typeface="Inter"/>
                <a:cs typeface="Inter"/>
              </a:defRPr>
            </a:pPr>
            <a:r>
              <a:rPr sz="1575" b="1">
                <a:solidFill>
                  <a:srgbClr val="253653"/>
                </a:solidFill>
                <a:latin typeface="Inter"/>
                <a:ea typeface="Inter"/>
                <a:cs typeface="Inter"/>
              </a:rPr>
              <a:t>No authentication, external APIs or cloud dependency</a:t>
            </a:r>
          </a:p>
        </p:txBody>
      </p:sp>
      <p:sp>
        <p:nvSpPr>
          <p:cNvPr id="29" name="">
            <a:extLst xmlns:a="http://schemas.openxmlformats.org/drawingml/2006/main">
              <a:ext uri="{FF2B5EF4-FFF2-40B4-BE49-F238E27FC236}">
                <a16:creationId xmlns:a16="http://schemas.microsoft.com/office/drawing/2014/main" id="{C4FED38E-3083-4FEA-BA18-DCA7693D5690}"/>
              </a:ext>
            </a:extLst>
          </p:cNvPr>
          <p:cNvSpPr>
            <a:spLocks xmlns:a="http://schemas.openxmlformats.org/drawingml/2006/main" noGrp="1"/>
          </p:cNvSpPr>
          <p:nvPr/>
        </p:nvSpPr>
        <p:spPr>
          <a:xfrm xmlns:a="http://schemas.openxmlformats.org/drawingml/2006/main">
            <a:off x="11382375" y="62388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253653"/>
                </a:solidFill>
                <a:latin typeface="Inter"/>
                <a:ea typeface="Inter"/>
                <a:cs typeface="Inter"/>
              </a:defRPr>
            </a:pPr>
            <a:r>
              <a:rPr sz="1050" b="1">
                <a:solidFill>
                  <a:srgbClr val="253653"/>
                </a:solidFill>
                <a:latin typeface="Inter"/>
                <a:ea typeface="Inter"/>
                <a:cs typeface="Inter"/>
              </a:rPr>
              <a:t>05</a:t>
            </a:r>
          </a:p>
        </p:txBody>
      </p:sp>
    </p:spTree>
    <p:extLst>
      <p:ext uri="{BB962C8B-B14F-4D97-AF65-F5344CB8AC3E}">
        <p14:creationId xmlns:p14="http://schemas.microsoft.com/office/powerpoint/2010/main" val="1852034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2800ED3-B218-4FC3-8C94-D6251695A944}"/>
              </a:ext>
            </a:extLst>
          </p:cNvPr>
          <p:cNvSpPr>
            <a:spLocks xmlns:a="http://schemas.openxmlformats.org/drawingml/2006/main" noGrp="1"/>
          </p:cNvSpPr>
          <p:nvPr/>
        </p:nvSpPr>
        <p:spPr>
          <a:xfrm xmlns:a="http://schemas.openxmlformats.org/drawingml/2006/main">
            <a:off x="0" y="0"/>
            <a:ext cx="6667500" cy="6858000"/>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F012B09-94FE-4DD5-AE73-D4E2714CCCF7}"/>
              </a:ext>
            </a:extLst>
          </p:cNvPr>
          <p:cNvSpPr>
            <a:spLocks xmlns:a="http://schemas.openxmlformats.org/drawingml/2006/main" noGrp="1"/>
          </p:cNvSpPr>
          <p:nvPr/>
        </p:nvSpPr>
        <p:spPr>
          <a:xfrm xmlns:a="http://schemas.openxmlformats.org/drawingml/2006/main">
            <a:off x="685800" y="571500"/>
            <a:ext cx="5191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450" b="1">
                <a:solidFill>
                  <a:srgbClr val="FFFFFF"/>
                </a:solidFill>
                <a:latin typeface="Inter"/>
                <a:ea typeface="Inter"/>
                <a:cs typeface="Inter"/>
              </a:defRPr>
            </a:pPr>
            <a:r>
              <a:rPr sz="3450" b="1">
                <a:solidFill>
                  <a:srgbClr val="FFFFFF"/>
                </a:solidFill>
                <a:latin typeface="Inter"/>
                <a:ea typeface="Inter"/>
                <a:cs typeface="Inter"/>
              </a:rPr>
              <a:t>The MVP validates</a:t>
            </a:r>
          </a:p>
          <a:p xmlns:a="http://schemas.openxmlformats.org/drawingml/2006/main">
            <a:pPr algn="l">
              <a:lnSpc>
                <a:spcPct val="94000"/>
              </a:lnSpc>
              <a:buNone/>
              <a:defRPr sz="3450" b="1">
                <a:solidFill>
                  <a:srgbClr val="FFFFFF"/>
                </a:solidFill>
                <a:latin typeface="Inter"/>
                <a:ea typeface="Inter"/>
                <a:cs typeface="Inter"/>
              </a:defRPr>
            </a:pPr>
            <a:r>
              <a:rPr sz="3450" b="1">
                <a:solidFill>
                  <a:srgbClr val="FFFFFF"/>
                </a:solidFill>
                <a:latin typeface="Inter"/>
                <a:ea typeface="Inter"/>
                <a:cs typeface="Inter"/>
              </a:rPr>
              <a:t>the core behavior</a:t>
            </a:r>
          </a:p>
        </p:txBody>
      </p:sp>
      <p:sp>
        <p:nvSpPr>
          <p:cNvPr id="3" name="">
            <a:extLst xmlns:a="http://schemas.openxmlformats.org/drawingml/2006/main">
              <a:ext uri="{FF2B5EF4-FFF2-40B4-BE49-F238E27FC236}">
                <a16:creationId xmlns:a16="http://schemas.microsoft.com/office/drawing/2014/main" id="{3302F1B6-B9BC-4FC3-AF89-FC9400F5BFB8}"/>
              </a:ext>
            </a:extLst>
          </p:cNvPr>
          <p:cNvSpPr>
            <a:spLocks xmlns:a="http://schemas.openxmlformats.org/drawingml/2006/main" noGrp="1"/>
          </p:cNvSpPr>
          <p:nvPr/>
        </p:nvSpPr>
        <p:spPr>
          <a:xfrm xmlns:a="http://schemas.openxmlformats.org/drawingml/2006/main">
            <a:off x="685800" y="21240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FFFFF"/>
                </a:solidFill>
                <a:latin typeface="Inter"/>
                <a:ea typeface="Inter"/>
                <a:cs typeface="Inter"/>
              </a:defRPr>
            </a:pPr>
            <a:r>
              <a:rPr sz="1275" b="1">
                <a:solidFill>
                  <a:srgbClr val="FFFFFF"/>
                </a:solidFill>
                <a:latin typeface="Inter"/>
                <a:ea typeface="Inter"/>
                <a:cs typeface="Inter"/>
              </a:rPr>
              <a:t>WORKING PROOF</a:t>
            </a:r>
          </a:p>
        </p:txBody>
      </p:sp>
      <p:sp>
        <p:nvSpPr>
          <p:cNvPr id="4" name="">
            <a:extLst xmlns:a="http://schemas.openxmlformats.org/drawingml/2006/main">
              <a:ext uri="{FF2B5EF4-FFF2-40B4-BE49-F238E27FC236}">
                <a16:creationId xmlns:a16="http://schemas.microsoft.com/office/drawing/2014/main" id="{DACA73B0-9CCA-4A72-9D44-7D853528F0FC}"/>
              </a:ext>
            </a:extLst>
          </p:cNvPr>
          <p:cNvSpPr>
            <a:spLocks xmlns:a="http://schemas.openxmlformats.org/drawingml/2006/main" noGrp="1"/>
          </p:cNvSpPr>
          <p:nvPr/>
        </p:nvSpPr>
        <p:spPr>
          <a:xfrm xmlns:a="http://schemas.openxmlformats.org/drawingml/2006/main">
            <a:off x="685800" y="26479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01</a:t>
            </a:r>
          </a:p>
        </p:txBody>
      </p:sp>
      <p:sp>
        <p:nvSpPr>
          <p:cNvPr id="5" name="">
            <a:extLst xmlns:a="http://schemas.openxmlformats.org/drawingml/2006/main">
              <a:ext uri="{FF2B5EF4-FFF2-40B4-BE49-F238E27FC236}">
                <a16:creationId xmlns:a16="http://schemas.microsoft.com/office/drawing/2014/main" id="{416B9DBB-A793-40C8-9BF9-929C832EC5D7}"/>
              </a:ext>
            </a:extLst>
          </p:cNvPr>
          <p:cNvSpPr>
            <a:spLocks xmlns:a="http://schemas.openxmlformats.org/drawingml/2006/main" noGrp="1"/>
          </p:cNvSpPr>
          <p:nvPr/>
        </p:nvSpPr>
        <p:spPr>
          <a:xfrm xmlns:a="http://schemas.openxmlformats.org/drawingml/2006/main">
            <a:off x="1333500" y="2619375"/>
            <a:ext cx="423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0">
                <a:solidFill>
                  <a:srgbClr val="FFFFFF"/>
                </a:solidFill>
                <a:latin typeface="Inter"/>
                <a:ea typeface="Inter"/>
                <a:cs typeface="Inter"/>
              </a:defRPr>
            </a:pPr>
            <a:r>
              <a:rPr sz="1800" b="0">
                <a:solidFill>
                  <a:srgbClr val="FFFFFF"/>
                </a:solidFill>
                <a:latin typeface="Inter"/>
                <a:ea typeface="Inter"/>
                <a:cs typeface="Inter"/>
              </a:rPr>
              <a:t>Create and prioritize tasks</a:t>
            </a:r>
          </a:p>
        </p:txBody>
      </p:sp>
      <p:sp>
        <p:nvSpPr>
          <p:cNvPr id="6" name="">
            <a:extLst xmlns:a="http://schemas.openxmlformats.org/drawingml/2006/main">
              <a:ext uri="{FF2B5EF4-FFF2-40B4-BE49-F238E27FC236}">
                <a16:creationId xmlns:a16="http://schemas.microsoft.com/office/drawing/2014/main" id="{05315FD0-D495-4298-BCB2-AC51BE904164}"/>
              </a:ext>
            </a:extLst>
          </p:cNvPr>
          <p:cNvSpPr>
            <a:spLocks xmlns:a="http://schemas.openxmlformats.org/drawingml/2006/main" noGrp="1"/>
          </p:cNvSpPr>
          <p:nvPr/>
        </p:nvSpPr>
        <p:spPr>
          <a:xfrm xmlns:a="http://schemas.openxmlformats.org/drawingml/2006/main">
            <a:off x="685800" y="32575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02</a:t>
            </a:r>
          </a:p>
        </p:txBody>
      </p:sp>
      <p:sp>
        <p:nvSpPr>
          <p:cNvPr id="7" name="">
            <a:extLst xmlns:a="http://schemas.openxmlformats.org/drawingml/2006/main">
              <a:ext uri="{FF2B5EF4-FFF2-40B4-BE49-F238E27FC236}">
                <a16:creationId xmlns:a16="http://schemas.microsoft.com/office/drawing/2014/main" id="{E63F338A-D7A0-4DA6-90BF-7940628E9D67}"/>
              </a:ext>
            </a:extLst>
          </p:cNvPr>
          <p:cNvSpPr>
            <a:spLocks xmlns:a="http://schemas.openxmlformats.org/drawingml/2006/main" noGrp="1"/>
          </p:cNvSpPr>
          <p:nvPr/>
        </p:nvSpPr>
        <p:spPr>
          <a:xfrm xmlns:a="http://schemas.openxmlformats.org/drawingml/2006/main">
            <a:off x="1333500" y="3228975"/>
            <a:ext cx="423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0">
                <a:solidFill>
                  <a:srgbClr val="FFFFFF"/>
                </a:solidFill>
                <a:latin typeface="Inter"/>
                <a:ea typeface="Inter"/>
                <a:cs typeface="Inter"/>
              </a:defRPr>
            </a:pPr>
            <a:r>
              <a:rPr sz="1800" b="0">
                <a:solidFill>
                  <a:srgbClr val="FFFFFF"/>
                </a:solidFill>
                <a:latin typeface="Inter"/>
                <a:ea typeface="Inter"/>
                <a:cs typeface="Inter"/>
              </a:rPr>
              <a:t>Correct user estimates</a:t>
            </a:r>
          </a:p>
        </p:txBody>
      </p:sp>
      <p:sp>
        <p:nvSpPr>
          <p:cNvPr id="8" name="">
            <a:extLst xmlns:a="http://schemas.openxmlformats.org/drawingml/2006/main">
              <a:ext uri="{FF2B5EF4-FFF2-40B4-BE49-F238E27FC236}">
                <a16:creationId xmlns:a16="http://schemas.microsoft.com/office/drawing/2014/main" id="{D6E4CFD3-9A28-4A35-878D-C332981BCDDD}"/>
              </a:ext>
            </a:extLst>
          </p:cNvPr>
          <p:cNvSpPr>
            <a:spLocks xmlns:a="http://schemas.openxmlformats.org/drawingml/2006/main" noGrp="1"/>
          </p:cNvSpPr>
          <p:nvPr/>
        </p:nvSpPr>
        <p:spPr>
          <a:xfrm xmlns:a="http://schemas.openxmlformats.org/drawingml/2006/main">
            <a:off x="685800" y="38671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03</a:t>
            </a:r>
          </a:p>
        </p:txBody>
      </p:sp>
      <p:sp>
        <p:nvSpPr>
          <p:cNvPr id="9" name="">
            <a:extLst xmlns:a="http://schemas.openxmlformats.org/drawingml/2006/main">
              <a:ext uri="{FF2B5EF4-FFF2-40B4-BE49-F238E27FC236}">
                <a16:creationId xmlns:a16="http://schemas.microsoft.com/office/drawing/2014/main" id="{790F8330-CCA0-42CB-B0F8-4A7295200C9F}"/>
              </a:ext>
            </a:extLst>
          </p:cNvPr>
          <p:cNvSpPr>
            <a:spLocks xmlns:a="http://schemas.openxmlformats.org/drawingml/2006/main" noGrp="1"/>
          </p:cNvSpPr>
          <p:nvPr/>
        </p:nvSpPr>
        <p:spPr>
          <a:xfrm xmlns:a="http://schemas.openxmlformats.org/drawingml/2006/main">
            <a:off x="1333500" y="3838575"/>
            <a:ext cx="423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0">
                <a:solidFill>
                  <a:srgbClr val="FFFFFF"/>
                </a:solidFill>
                <a:latin typeface="Inter"/>
                <a:ea typeface="Inter"/>
                <a:cs typeface="Inter"/>
              </a:defRPr>
            </a:pPr>
            <a:r>
              <a:rPr sz="1800" b="0">
                <a:solidFill>
                  <a:srgbClr val="FFFFFF"/>
                </a:solidFill>
                <a:latin typeface="Inter"/>
                <a:ea typeface="Inter"/>
                <a:cs typeface="Inter"/>
              </a:rPr>
              <a:t>Rebuild the remaining day</a:t>
            </a:r>
          </a:p>
        </p:txBody>
      </p:sp>
      <p:sp>
        <p:nvSpPr>
          <p:cNvPr id="10" name="">
            <a:extLst xmlns:a="http://schemas.openxmlformats.org/drawingml/2006/main">
              <a:ext uri="{FF2B5EF4-FFF2-40B4-BE49-F238E27FC236}">
                <a16:creationId xmlns:a16="http://schemas.microsoft.com/office/drawing/2014/main" id="{E7C2D272-E4B6-43E3-B2CD-4D2C4751DC0E}"/>
              </a:ext>
            </a:extLst>
          </p:cNvPr>
          <p:cNvSpPr>
            <a:spLocks xmlns:a="http://schemas.openxmlformats.org/drawingml/2006/main" noGrp="1"/>
          </p:cNvSpPr>
          <p:nvPr/>
        </p:nvSpPr>
        <p:spPr>
          <a:xfrm xmlns:a="http://schemas.openxmlformats.org/drawingml/2006/main">
            <a:off x="685800" y="4476750"/>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FFFFF"/>
                </a:solidFill>
                <a:latin typeface="Inter"/>
                <a:ea typeface="Inter"/>
                <a:cs typeface="Inter"/>
              </a:defRPr>
            </a:pPr>
            <a:r>
              <a:rPr sz="1200" b="1">
                <a:solidFill>
                  <a:srgbClr val="FFFFFF"/>
                </a:solidFill>
                <a:latin typeface="Inter"/>
                <a:ea typeface="Inter"/>
                <a:cs typeface="Inter"/>
              </a:rPr>
              <a:t>04</a:t>
            </a:r>
          </a:p>
        </p:txBody>
      </p:sp>
      <p:sp>
        <p:nvSpPr>
          <p:cNvPr id="11" name="">
            <a:extLst xmlns:a="http://schemas.openxmlformats.org/drawingml/2006/main">
              <a:ext uri="{FF2B5EF4-FFF2-40B4-BE49-F238E27FC236}">
                <a16:creationId xmlns:a16="http://schemas.microsoft.com/office/drawing/2014/main" id="{DC8B77E5-90DB-4B6D-8368-479DA1A47227}"/>
              </a:ext>
            </a:extLst>
          </p:cNvPr>
          <p:cNvSpPr>
            <a:spLocks xmlns:a="http://schemas.openxmlformats.org/drawingml/2006/main" noGrp="1"/>
          </p:cNvSpPr>
          <p:nvPr/>
        </p:nvSpPr>
        <p:spPr>
          <a:xfrm xmlns:a="http://schemas.openxmlformats.org/drawingml/2006/main">
            <a:off x="1333500" y="4448175"/>
            <a:ext cx="423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0">
                <a:solidFill>
                  <a:srgbClr val="FFFFFF"/>
                </a:solidFill>
                <a:latin typeface="Inter"/>
                <a:ea typeface="Inter"/>
                <a:cs typeface="Inter"/>
              </a:defRPr>
            </a:pPr>
            <a:r>
              <a:rPr sz="1800" b="0">
                <a:solidFill>
                  <a:srgbClr val="FFFFFF"/>
                </a:solidFill>
                <a:latin typeface="Inter"/>
                <a:ea typeface="Inter"/>
                <a:cs typeface="Inter"/>
              </a:rPr>
              <a:t>Store outcomes in SQLite</a:t>
            </a:r>
          </a:p>
        </p:txBody>
      </p:sp>
      <p:sp>
        <p:nvSpPr>
          <p:cNvPr id="12" name="">
            <a:extLst xmlns:a="http://schemas.openxmlformats.org/drawingml/2006/main">
              <a:ext uri="{FF2B5EF4-FFF2-40B4-BE49-F238E27FC236}">
                <a16:creationId xmlns:a16="http://schemas.microsoft.com/office/drawing/2014/main" id="{FACF16DE-8954-45D0-ACCF-1F53B7EFA3E4}"/>
              </a:ext>
            </a:extLst>
          </p:cNvPr>
          <p:cNvSpPr>
            <a:spLocks xmlns:a="http://schemas.openxmlformats.org/drawingml/2006/main" noGrp="1"/>
          </p:cNvSpPr>
          <p:nvPr/>
        </p:nvSpPr>
        <p:spPr>
          <a:xfrm xmlns:a="http://schemas.openxmlformats.org/drawingml/2006/main">
            <a:off x="7239000" y="590550"/>
            <a:ext cx="419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850" b="1">
                <a:solidFill>
                  <a:srgbClr val="111111"/>
                </a:solidFill>
                <a:latin typeface="Inter"/>
                <a:ea typeface="Inter"/>
                <a:cs typeface="Inter"/>
              </a:defRPr>
            </a:pPr>
            <a:r>
              <a:rPr sz="2850" b="1">
                <a:solidFill>
                  <a:srgbClr val="111111"/>
                </a:solidFill>
                <a:latin typeface="Inter"/>
                <a:ea typeface="Inter"/>
                <a:cs typeface="Inter"/>
              </a:rPr>
              <a:t>Production expands the model</a:t>
            </a:r>
          </a:p>
        </p:txBody>
      </p:sp>
      <p:sp>
        <p:nvSpPr>
          <p:cNvPr id="13" name="">
            <a:extLst xmlns:a="http://schemas.openxmlformats.org/drawingml/2006/main">
              <a:ext uri="{FF2B5EF4-FFF2-40B4-BE49-F238E27FC236}">
                <a16:creationId xmlns:a16="http://schemas.microsoft.com/office/drawing/2014/main" id="{8D11B389-21C3-4034-AE49-43F6B9E94386}"/>
              </a:ext>
            </a:extLst>
          </p:cNvPr>
          <p:cNvSpPr>
            <a:spLocks xmlns:a="http://schemas.openxmlformats.org/drawingml/2006/main" noGrp="1"/>
          </p:cNvSpPr>
          <p:nvPr/>
        </p:nvSpPr>
        <p:spPr>
          <a:xfrm xmlns:a="http://schemas.openxmlformats.org/drawingml/2006/main">
            <a:off x="7239000" y="20002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111111"/>
                </a:solidFill>
                <a:latin typeface="Inter"/>
                <a:ea typeface="Inter"/>
                <a:cs typeface="Inter"/>
              </a:defRPr>
            </a:pPr>
            <a:r>
              <a:rPr sz="1725" b="1">
                <a:solidFill>
                  <a:srgbClr val="111111"/>
                </a:solidFill>
                <a:latin typeface="Inter"/>
                <a:ea typeface="Inter"/>
                <a:cs typeface="Inter"/>
              </a:rPr>
              <a:t>Accounts and synchronization</a:t>
            </a:r>
          </a:p>
        </p:txBody>
      </p:sp>
      <p:sp>
        <p:nvSpPr>
          <p:cNvPr id="14" name="">
            <a:extLst xmlns:a="http://schemas.openxmlformats.org/drawingml/2006/main">
              <a:ext uri="{FF2B5EF4-FFF2-40B4-BE49-F238E27FC236}">
                <a16:creationId xmlns:a16="http://schemas.microsoft.com/office/drawing/2014/main" id="{A47B5D79-FF70-4805-A85C-1BA106184EA7}"/>
              </a:ext>
            </a:extLst>
          </p:cNvPr>
          <p:cNvSpPr>
            <a:spLocks xmlns:a="http://schemas.openxmlformats.org/drawingml/2006/main" noGrp="1"/>
          </p:cNvSpPr>
          <p:nvPr/>
        </p:nvSpPr>
        <p:spPr>
          <a:xfrm xmlns:a="http://schemas.openxmlformats.org/drawingml/2006/main">
            <a:off x="7239000" y="2638425"/>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111111"/>
                </a:solidFill>
                <a:latin typeface="Inter"/>
                <a:ea typeface="Inter"/>
                <a:cs typeface="Inter"/>
              </a:defRPr>
            </a:pPr>
            <a:r>
              <a:rPr sz="1725" b="1">
                <a:solidFill>
                  <a:srgbClr val="111111"/>
                </a:solidFill>
                <a:latin typeface="Inter"/>
                <a:ea typeface="Inter"/>
                <a:cs typeface="Inter"/>
              </a:rPr>
              <a:t>Trained regression models</a:t>
            </a:r>
          </a:p>
        </p:txBody>
      </p:sp>
      <p:sp>
        <p:nvSpPr>
          <p:cNvPr id="15" name="">
            <a:extLst xmlns:a="http://schemas.openxmlformats.org/drawingml/2006/main">
              <a:ext uri="{FF2B5EF4-FFF2-40B4-BE49-F238E27FC236}">
                <a16:creationId xmlns:a16="http://schemas.microsoft.com/office/drawing/2014/main" id="{3F903F72-A23C-497B-9AA3-23621D4963B4}"/>
              </a:ext>
            </a:extLst>
          </p:cNvPr>
          <p:cNvSpPr>
            <a:spLocks xmlns:a="http://schemas.openxmlformats.org/drawingml/2006/main" noGrp="1"/>
          </p:cNvSpPr>
          <p:nvPr/>
        </p:nvSpPr>
        <p:spPr>
          <a:xfrm xmlns:a="http://schemas.openxmlformats.org/drawingml/2006/main">
            <a:off x="7239000" y="3276600"/>
            <a:ext cx="4143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111111"/>
                </a:solidFill>
                <a:latin typeface="Inter"/>
                <a:ea typeface="Inter"/>
                <a:cs typeface="Inter"/>
              </a:defRPr>
            </a:pPr>
            <a:r>
              <a:rPr sz="1725" b="1">
                <a:solidFill>
                  <a:srgbClr val="111111"/>
                </a:solidFill>
                <a:latin typeface="Inter"/>
                <a:ea typeface="Inter"/>
                <a:cs typeface="Inter"/>
              </a:rPr>
              <a:t>Calendar integrations and notifications</a:t>
            </a:r>
          </a:p>
        </p:txBody>
      </p:sp>
      <p:sp>
        <p:nvSpPr>
          <p:cNvPr id="16" name="">
            <a:extLst xmlns:a="http://schemas.openxmlformats.org/drawingml/2006/main">
              <a:ext uri="{FF2B5EF4-FFF2-40B4-BE49-F238E27FC236}">
                <a16:creationId xmlns:a16="http://schemas.microsoft.com/office/drawing/2014/main" id="{9F1CE42B-31E0-4E43-8AAB-E5395158A256}"/>
              </a:ext>
            </a:extLst>
          </p:cNvPr>
          <p:cNvSpPr>
            <a:spLocks xmlns:a="http://schemas.openxmlformats.org/drawingml/2006/main" noGrp="1"/>
          </p:cNvSpPr>
          <p:nvPr/>
        </p:nvSpPr>
        <p:spPr>
          <a:xfrm xmlns:a="http://schemas.openxmlformats.org/drawingml/2006/main">
            <a:off x="7239000" y="4124325"/>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111111"/>
                </a:solidFill>
                <a:latin typeface="Inter"/>
                <a:ea typeface="Inter"/>
                <a:cs typeface="Inter"/>
              </a:defRPr>
            </a:pPr>
            <a:r>
              <a:rPr sz="1725" b="1">
                <a:solidFill>
                  <a:srgbClr val="111111"/>
                </a:solidFill>
                <a:latin typeface="Inter"/>
                <a:ea typeface="Inter"/>
                <a:cs typeface="Inter"/>
              </a:rPr>
              <a:t>Admin controls and monitoring</a:t>
            </a:r>
          </a:p>
        </p:txBody>
      </p:sp>
      <p:sp>
        <p:nvSpPr>
          <p:cNvPr id="17" name="">
            <a:extLst xmlns:a="http://schemas.openxmlformats.org/drawingml/2006/main">
              <a:ext uri="{FF2B5EF4-FFF2-40B4-BE49-F238E27FC236}">
                <a16:creationId xmlns:a16="http://schemas.microsoft.com/office/drawing/2014/main" id="{9A9ABC75-DC3A-48B2-8560-5DD0E1AE82B8}"/>
              </a:ext>
            </a:extLst>
          </p:cNvPr>
          <p:cNvSpPr>
            <a:spLocks xmlns:a="http://schemas.openxmlformats.org/drawingml/2006/main" noGrp="1"/>
          </p:cNvSpPr>
          <p:nvPr/>
        </p:nvSpPr>
        <p:spPr>
          <a:xfrm xmlns:a="http://schemas.openxmlformats.org/drawingml/2006/main">
            <a:off x="7239000" y="4972050"/>
            <a:ext cx="4000500" cy="28575"/>
          </a:xfrm>
          <a:prstGeom xmlns:a="http://schemas.openxmlformats.org/drawingml/2006/main" prst="rect">
            <a:avLst/>
          </a:prstGeom>
          <a:solidFill xmlns:a="http://schemas.openxmlformats.org/drawingml/2006/main">
            <a:srgbClr val="25365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755ED13-FEA1-4C5E-83E6-CDCD6A686437}"/>
              </a:ext>
            </a:extLst>
          </p:cNvPr>
          <p:cNvSpPr>
            <a:spLocks xmlns:a="http://schemas.openxmlformats.org/drawingml/2006/main" noGrp="1"/>
          </p:cNvSpPr>
          <p:nvPr/>
        </p:nvSpPr>
        <p:spPr>
          <a:xfrm xmlns:a="http://schemas.openxmlformats.org/drawingml/2006/main">
            <a:off x="7239000" y="5238750"/>
            <a:ext cx="4048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535"/>
          </a:bodyPr>
          <a:lstStyle xmlns:a="http://schemas.openxmlformats.org/drawingml/2006/main"/>
          <a:p xmlns:a="http://schemas.openxmlformats.org/drawingml/2006/main">
            <a:pPr algn="l">
              <a:lnSpc>
                <a:spcPct val="102000"/>
              </a:lnSpc>
              <a:buNone/>
              <a:defRPr sz="2025" b="1">
                <a:solidFill>
                  <a:srgbClr val="253653"/>
                </a:solidFill>
                <a:latin typeface="Inter"/>
                <a:ea typeface="Inter"/>
                <a:cs typeface="Inter"/>
              </a:defRPr>
            </a:pPr>
            <a:r>
              <a:rPr sz="2025" b="1">
                <a:solidFill>
                  <a:srgbClr val="253653"/>
                </a:solidFill>
                <a:latin typeface="Inter"/>
                <a:ea typeface="Inter"/>
                <a:cs typeface="Inter"/>
              </a:rPr>
              <a:t>Each completed task should make the next plan more realistic</a:t>
            </a:r>
          </a:p>
        </p:txBody>
      </p:sp>
      <p:sp>
        <p:nvSpPr>
          <p:cNvPr id="19" name="">
            <a:extLst xmlns:a="http://schemas.openxmlformats.org/drawingml/2006/main">
              <a:ext uri="{FF2B5EF4-FFF2-40B4-BE49-F238E27FC236}">
                <a16:creationId xmlns:a16="http://schemas.microsoft.com/office/drawing/2014/main" id="{BCD24E71-8E2F-474B-9762-6915DB7382F8}"/>
              </a:ext>
            </a:extLst>
          </p:cNvPr>
          <p:cNvSpPr>
            <a:spLocks xmlns:a="http://schemas.openxmlformats.org/drawingml/2006/main" noGrp="1"/>
          </p:cNvSpPr>
          <p:nvPr/>
        </p:nvSpPr>
        <p:spPr>
          <a:xfrm xmlns:a="http://schemas.openxmlformats.org/drawingml/2006/main">
            <a:off x="11382375" y="62388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253653"/>
                </a:solidFill>
                <a:latin typeface="Inter"/>
                <a:ea typeface="Inter"/>
                <a:cs typeface="Inter"/>
              </a:defRPr>
            </a:pPr>
            <a:r>
              <a:rPr sz="1050" b="1">
                <a:solidFill>
                  <a:srgbClr val="253653"/>
                </a:solidFill>
                <a:latin typeface="Inter"/>
                <a:ea typeface="Inter"/>
                <a:cs typeface="Inter"/>
              </a:rPr>
              <a:t>06</a:t>
            </a:r>
          </a:p>
        </p:txBody>
      </p:sp>
    </p:spTree>
    <p:extLst>
      <p:ext uri="{BB962C8B-B14F-4D97-AF65-F5344CB8AC3E}">
        <p14:creationId xmlns:p14="http://schemas.microsoft.com/office/powerpoint/2010/main" val="21035558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2026-09-14T20:00:39.3250000Z</dcterms:created>
  <dcterms:modified xsi:type="dcterms:W3CDTF">2026-09-14T20:00:39.3250000Z</dcterms:modified>
</coreProperties>
</file>